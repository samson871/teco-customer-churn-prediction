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6" r:id="rId6"/>
    <p:sldId id="258" r:id="rId7"/>
    <p:sldId id="257" r:id="rId8"/>
    <p:sldId id="267" r:id="rId9"/>
    <p:sldId id="270" r:id="rId10"/>
    <p:sldId id="272" r:id="rId11"/>
    <p:sldId id="260" r:id="rId12"/>
    <p:sldId id="268" r:id="rId13"/>
    <p:sldId id="273" r:id="rId14"/>
    <p:sldId id="274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salman" userId="fcd849ae16f6747f" providerId="LiveId" clId="{7507DE51-9AA0-4CE9-9078-B7347123536B}"/>
    <pc:docChg chg="undo custSel addSld delSld modSld">
      <pc:chgData name="shubham salman" userId="fcd849ae16f6747f" providerId="LiveId" clId="{7507DE51-9AA0-4CE9-9078-B7347123536B}" dt="2025-02-07T09:05:53.298" v="318" actId="20577"/>
      <pc:docMkLst>
        <pc:docMk/>
      </pc:docMkLst>
      <pc:sldChg chg="modSp mod">
        <pc:chgData name="shubham salman" userId="fcd849ae16f6747f" providerId="LiveId" clId="{7507DE51-9AA0-4CE9-9078-B7347123536B}" dt="2025-02-07T09:05:53.298" v="318" actId="20577"/>
        <pc:sldMkLst>
          <pc:docMk/>
          <pc:sldMk cId="1819359268" sldId="256"/>
        </pc:sldMkLst>
        <pc:spChg chg="mod">
          <ac:chgData name="shubham salman" userId="fcd849ae16f6747f" providerId="LiveId" clId="{7507DE51-9AA0-4CE9-9078-B7347123536B}" dt="2025-02-07T09:05:53.298" v="318" actId="20577"/>
          <ac:spMkLst>
            <pc:docMk/>
            <pc:sldMk cId="1819359268" sldId="256"/>
            <ac:spMk id="5" creationId="{02189DC0-608B-0BF5-7F77-F7E3350E95F7}"/>
          </ac:spMkLst>
        </pc:spChg>
      </pc:sldChg>
      <pc:sldChg chg="add">
        <pc:chgData name="shubham salman" userId="fcd849ae16f6747f" providerId="LiveId" clId="{7507DE51-9AA0-4CE9-9078-B7347123536B}" dt="2025-02-07T08:44:23.385" v="285"/>
        <pc:sldMkLst>
          <pc:docMk/>
          <pc:sldMk cId="2153487255" sldId="260"/>
        </pc:sldMkLst>
      </pc:sldChg>
      <pc:sldChg chg="add del">
        <pc:chgData name="shubham salman" userId="fcd849ae16f6747f" providerId="LiveId" clId="{7507DE51-9AA0-4CE9-9078-B7347123536B}" dt="2025-02-07T07:49:56.145" v="75" actId="47"/>
        <pc:sldMkLst>
          <pc:docMk/>
          <pc:sldMk cId="1705514122" sldId="265"/>
        </pc:sldMkLst>
      </pc:sldChg>
      <pc:sldChg chg="modSp add del mod">
        <pc:chgData name="shubham salman" userId="fcd849ae16f6747f" providerId="LiveId" clId="{7507DE51-9AA0-4CE9-9078-B7347123536B}" dt="2025-02-07T08:16:32.711" v="125" actId="12"/>
        <pc:sldMkLst>
          <pc:docMk/>
          <pc:sldMk cId="3265983746" sldId="267"/>
        </pc:sldMkLst>
        <pc:spChg chg="mod">
          <ac:chgData name="shubham salman" userId="fcd849ae16f6747f" providerId="LiveId" clId="{7507DE51-9AA0-4CE9-9078-B7347123536B}" dt="2025-02-07T08:16:01.739" v="121" actId="1076"/>
          <ac:spMkLst>
            <pc:docMk/>
            <pc:sldMk cId="3265983746" sldId="267"/>
            <ac:spMk id="2" creationId="{AABFEBD2-92A2-7C5F-80A6-098C12F2698C}"/>
          </ac:spMkLst>
        </pc:spChg>
        <pc:spChg chg="mod">
          <ac:chgData name="shubham salman" userId="fcd849ae16f6747f" providerId="LiveId" clId="{7507DE51-9AA0-4CE9-9078-B7347123536B}" dt="2025-02-07T08:16:32.711" v="125" actId="12"/>
          <ac:spMkLst>
            <pc:docMk/>
            <pc:sldMk cId="3265983746" sldId="267"/>
            <ac:spMk id="3" creationId="{5902723A-85CA-4135-3CDF-307A7CA1A1CA}"/>
          </ac:spMkLst>
        </pc:spChg>
      </pc:sldChg>
      <pc:sldChg chg="modSp add del mod">
        <pc:chgData name="shubham salman" userId="fcd849ae16f6747f" providerId="LiveId" clId="{7507DE51-9AA0-4CE9-9078-B7347123536B}" dt="2025-02-07T08:43:31.937" v="282" actId="207"/>
        <pc:sldMkLst>
          <pc:docMk/>
          <pc:sldMk cId="421483565" sldId="268"/>
        </pc:sldMkLst>
        <pc:spChg chg="mod">
          <ac:chgData name="shubham salman" userId="fcd849ae16f6747f" providerId="LiveId" clId="{7507DE51-9AA0-4CE9-9078-B7347123536B}" dt="2025-02-07T08:43:31.937" v="282" actId="207"/>
          <ac:spMkLst>
            <pc:docMk/>
            <pc:sldMk cId="421483565" sldId="268"/>
            <ac:spMk id="3" creationId="{43B87ACD-D8A9-ED6F-CF15-29589A697DF4}"/>
          </ac:spMkLst>
        </pc:spChg>
      </pc:sldChg>
      <pc:sldChg chg="modSp mod">
        <pc:chgData name="shubham salman" userId="fcd849ae16f6747f" providerId="LiveId" clId="{7507DE51-9AA0-4CE9-9078-B7347123536B}" dt="2025-02-07T07:33:46.337" v="4" actId="14100"/>
        <pc:sldMkLst>
          <pc:docMk/>
          <pc:sldMk cId="2448555528" sldId="269"/>
        </pc:sldMkLst>
        <pc:spChg chg="mod">
          <ac:chgData name="shubham salman" userId="fcd849ae16f6747f" providerId="LiveId" clId="{7507DE51-9AA0-4CE9-9078-B7347123536B}" dt="2025-02-07T07:33:46.337" v="4" actId="14100"/>
          <ac:spMkLst>
            <pc:docMk/>
            <pc:sldMk cId="2448555528" sldId="269"/>
            <ac:spMk id="3" creationId="{F85D880F-990C-52B1-6C14-48C08E652A5C}"/>
          </ac:spMkLst>
        </pc:spChg>
      </pc:sldChg>
      <pc:sldChg chg="delSp modSp add del mod">
        <pc:chgData name="shubham salman" userId="fcd849ae16f6747f" providerId="LiveId" clId="{7507DE51-9AA0-4CE9-9078-B7347123536B}" dt="2025-02-07T08:16:24.744" v="123" actId="12"/>
        <pc:sldMkLst>
          <pc:docMk/>
          <pc:sldMk cId="242923596" sldId="270"/>
        </pc:sldMkLst>
        <pc:spChg chg="del">
          <ac:chgData name="shubham salman" userId="fcd849ae16f6747f" providerId="LiveId" clId="{7507DE51-9AA0-4CE9-9078-B7347123536B}" dt="2025-02-07T07:29:03.541" v="1" actId="478"/>
          <ac:spMkLst>
            <pc:docMk/>
            <pc:sldMk cId="242923596" sldId="270"/>
            <ac:spMk id="2" creationId="{DFD1BC27-29A4-9DD4-068E-3F3292CE8A9B}"/>
          </ac:spMkLst>
        </pc:spChg>
        <pc:spChg chg="mod">
          <ac:chgData name="shubham salman" userId="fcd849ae16f6747f" providerId="LiveId" clId="{7507DE51-9AA0-4CE9-9078-B7347123536B}" dt="2025-02-07T08:16:24.744" v="123" actId="12"/>
          <ac:spMkLst>
            <pc:docMk/>
            <pc:sldMk cId="242923596" sldId="270"/>
            <ac:spMk id="3" creationId="{41445048-650D-D7A6-ABD5-FBC82137B34D}"/>
          </ac:spMkLst>
        </pc:spChg>
      </pc:sldChg>
      <pc:sldChg chg="delSp mod">
        <pc:chgData name="shubham salman" userId="fcd849ae16f6747f" providerId="LiveId" clId="{7507DE51-9AA0-4CE9-9078-B7347123536B}" dt="2025-02-07T07:26:27.624" v="0" actId="478"/>
        <pc:sldMkLst>
          <pc:docMk/>
          <pc:sldMk cId="2789137156" sldId="271"/>
        </pc:sldMkLst>
        <pc:spChg chg="del">
          <ac:chgData name="shubham salman" userId="fcd849ae16f6747f" providerId="LiveId" clId="{7507DE51-9AA0-4CE9-9078-B7347123536B}" dt="2025-02-07T07:26:27.624" v="0" actId="478"/>
          <ac:spMkLst>
            <pc:docMk/>
            <pc:sldMk cId="2789137156" sldId="271"/>
            <ac:spMk id="2" creationId="{735EFF89-22E6-FD0A-522A-D3B77C489BA9}"/>
          </ac:spMkLst>
        </pc:spChg>
      </pc:sldChg>
      <pc:sldChg chg="addSp modSp new mod">
        <pc:chgData name="shubham salman" userId="fcd849ae16f6747f" providerId="LiveId" clId="{7507DE51-9AA0-4CE9-9078-B7347123536B}" dt="2025-02-07T08:20:19.738" v="175" actId="1076"/>
        <pc:sldMkLst>
          <pc:docMk/>
          <pc:sldMk cId="2470189486" sldId="272"/>
        </pc:sldMkLst>
        <pc:spChg chg="add mod">
          <ac:chgData name="shubham salman" userId="fcd849ae16f6747f" providerId="LiveId" clId="{7507DE51-9AA0-4CE9-9078-B7347123536B}" dt="2025-02-07T08:20:19.738" v="175" actId="1076"/>
          <ac:spMkLst>
            <pc:docMk/>
            <pc:sldMk cId="2470189486" sldId="272"/>
            <ac:spMk id="3" creationId="{95113F81-6C48-6F3F-DBD5-696B47FB9DFA}"/>
          </ac:spMkLst>
        </pc:spChg>
      </pc:sldChg>
      <pc:sldChg chg="addSp delSp modSp new mod">
        <pc:chgData name="shubham salman" userId="fcd849ae16f6747f" providerId="LiveId" clId="{7507DE51-9AA0-4CE9-9078-B7347123536B}" dt="2025-02-07T08:41:57.272" v="278" actId="14100"/>
        <pc:sldMkLst>
          <pc:docMk/>
          <pc:sldMk cId="2246935990" sldId="273"/>
        </pc:sldMkLst>
        <pc:spChg chg="del">
          <ac:chgData name="shubham salman" userId="fcd849ae16f6747f" providerId="LiveId" clId="{7507DE51-9AA0-4CE9-9078-B7347123536B}" dt="2025-02-07T08:33:09.210" v="206" actId="478"/>
          <ac:spMkLst>
            <pc:docMk/>
            <pc:sldMk cId="2246935990" sldId="273"/>
            <ac:spMk id="2" creationId="{7DB954F7-BDAC-E2B8-4A26-8EA8303DCB90}"/>
          </ac:spMkLst>
        </pc:spChg>
        <pc:spChg chg="del">
          <ac:chgData name="shubham salman" userId="fcd849ae16f6747f" providerId="LiveId" clId="{7507DE51-9AA0-4CE9-9078-B7347123536B}" dt="2025-02-07T08:33:14.271" v="207" actId="478"/>
          <ac:spMkLst>
            <pc:docMk/>
            <pc:sldMk cId="2246935990" sldId="273"/>
            <ac:spMk id="3" creationId="{7EB371A4-3D41-B04F-DB02-97E4FF2E8F9D}"/>
          </ac:spMkLst>
        </pc:spChg>
        <pc:spChg chg="add mod">
          <ac:chgData name="shubham salman" userId="fcd849ae16f6747f" providerId="LiveId" clId="{7507DE51-9AA0-4CE9-9078-B7347123536B}" dt="2025-02-07T08:41:57.272" v="278" actId="14100"/>
          <ac:spMkLst>
            <pc:docMk/>
            <pc:sldMk cId="2246935990" sldId="273"/>
            <ac:spMk id="7" creationId="{D986ABF7-BABA-9C84-CA92-DF1442B0DA94}"/>
          </ac:spMkLst>
        </pc:spChg>
        <pc:picChg chg="add mod">
          <ac:chgData name="shubham salman" userId="fcd849ae16f6747f" providerId="LiveId" clId="{7507DE51-9AA0-4CE9-9078-B7347123536B}" dt="2025-02-07T08:40:32.694" v="255" actId="1076"/>
          <ac:picMkLst>
            <pc:docMk/>
            <pc:sldMk cId="2246935990" sldId="273"/>
            <ac:picMk id="5" creationId="{816D958D-28C7-5BCF-2FF5-270234F9CC39}"/>
          </ac:picMkLst>
        </pc:picChg>
      </pc:sldChg>
      <pc:sldChg chg="addSp modSp new mod">
        <pc:chgData name="shubham salman" userId="fcd849ae16f6747f" providerId="LiveId" clId="{7507DE51-9AA0-4CE9-9078-B7347123536B}" dt="2025-02-07T08:43:33.987" v="283" actId="207"/>
        <pc:sldMkLst>
          <pc:docMk/>
          <pc:sldMk cId="2003790044" sldId="274"/>
        </pc:sldMkLst>
        <pc:spChg chg="add mod">
          <ac:chgData name="shubham salman" userId="fcd849ae16f6747f" providerId="LiveId" clId="{7507DE51-9AA0-4CE9-9078-B7347123536B}" dt="2025-02-07T08:43:33.987" v="283" actId="207"/>
          <ac:spMkLst>
            <pc:docMk/>
            <pc:sldMk cId="2003790044" sldId="274"/>
            <ac:spMk id="3" creationId="{06626F25-A5F0-36E1-8149-EAD47EC5002D}"/>
          </ac:spMkLst>
        </pc:spChg>
      </pc:sldChg>
      <pc:sldChg chg="new del">
        <pc:chgData name="shubham salman" userId="fcd849ae16f6747f" providerId="LiveId" clId="{7507DE51-9AA0-4CE9-9078-B7347123536B}" dt="2025-02-07T08:44:25.065" v="286" actId="47"/>
        <pc:sldMkLst>
          <pc:docMk/>
          <pc:sldMk cId="99108785" sldId="2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CD1381F6-3559-5871-42B0-DDAE060756ED}"/>
              </a:ext>
            </a:extLst>
          </p:cNvPr>
          <p:cNvSpPr txBox="1">
            <a:spLocks/>
          </p:cNvSpPr>
          <p:nvPr/>
        </p:nvSpPr>
        <p:spPr>
          <a:xfrm>
            <a:off x="4355122" y="525474"/>
            <a:ext cx="6668478" cy="609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N.B.K.R INSTITUTE OF SCIENCE &amp; TECHNOLOGY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7CB020-CB84-3B8D-0E39-515CA651D417}"/>
              </a:ext>
            </a:extLst>
          </p:cNvPr>
          <p:cNvSpPr txBox="1"/>
          <p:nvPr/>
        </p:nvSpPr>
        <p:spPr>
          <a:xfrm>
            <a:off x="5997381" y="1062098"/>
            <a:ext cx="3475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Vidyanagar, Tirupati - 524413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FF2AE4-E42B-CCA8-021D-AD9A05E09858}"/>
              </a:ext>
            </a:extLst>
          </p:cNvPr>
          <p:cNvSpPr txBox="1"/>
          <p:nvPr/>
        </p:nvSpPr>
        <p:spPr>
          <a:xfrm>
            <a:off x="2225040" y="2442421"/>
            <a:ext cx="9113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Churning Prediction using XGBOOST and CATBOOST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281E3F-7094-5A6C-4FE8-76A0ACCF5A05}"/>
              </a:ext>
            </a:extLst>
          </p:cNvPr>
          <p:cNvSpPr txBox="1"/>
          <p:nvPr/>
        </p:nvSpPr>
        <p:spPr>
          <a:xfrm>
            <a:off x="2409415" y="3679368"/>
            <a:ext cx="457048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(AI&amp;DS):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Y. Samson(21KB1A30A2)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U. Siva Raju (21KB1A3093)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S. Sri Charan(21KB1A3089)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M. Lazar (21KB1A3054)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N. Charan Reddy(22KB5A3013)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5A055E-2C58-32CB-C746-EE1551987117}"/>
              </a:ext>
            </a:extLst>
          </p:cNvPr>
          <p:cNvSpPr txBox="1"/>
          <p:nvPr/>
        </p:nvSpPr>
        <p:spPr>
          <a:xfrm>
            <a:off x="7598915" y="4418032"/>
            <a:ext cx="45930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P. Jyothi,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IT and AI&amp;DS.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A9EF78A-33A2-F251-30F2-284722C42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297" y="423874"/>
            <a:ext cx="1492250" cy="155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62D2-6111-988A-161A-B0DA413D3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481" y="428429"/>
            <a:ext cx="9905998" cy="147857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E7640-C2E5-EF03-97AA-C6E7113B3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480" y="1781492"/>
            <a:ext cx="9905999" cy="354171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 explanation</a:t>
            </a:r>
          </a:p>
        </p:txBody>
      </p:sp>
    </p:spTree>
    <p:extLst>
      <p:ext uri="{BB962C8B-B14F-4D97-AF65-F5344CB8AC3E}">
        <p14:creationId xmlns:p14="http://schemas.microsoft.com/office/powerpoint/2010/main" val="3938058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6679ED-182C-24E4-C101-B829CB91C9D7}"/>
              </a:ext>
            </a:extLst>
          </p:cNvPr>
          <p:cNvSpPr txBox="1"/>
          <p:nvPr/>
        </p:nvSpPr>
        <p:spPr>
          <a:xfrm flipH="1">
            <a:off x="1257300" y="579120"/>
            <a:ext cx="3901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D955E-D233-F617-FC22-431935FE84BC}"/>
              </a:ext>
            </a:extLst>
          </p:cNvPr>
          <p:cNvSpPr txBox="1"/>
          <p:nvPr/>
        </p:nvSpPr>
        <p:spPr>
          <a:xfrm>
            <a:off x="1257299" y="1385233"/>
            <a:ext cx="1031613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  <a:cs typeface="Times New Roman" panose="02020603050405020304" pitchFamily="18" charset="0"/>
              </a:rPr>
              <a:t>Customer retention is essential for business success.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  <a:cs typeface="Times New Roman" panose="02020603050405020304" pitchFamily="18" charset="0"/>
              </a:rPr>
              <a:t>Retaining existing clients is more cost-effective than acquiring new ones.</a:t>
            </a:r>
          </a:p>
          <a:p>
            <a:pPr algn="just"/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  <a:cs typeface="Times New Roman" panose="02020603050405020304" pitchFamily="18" charset="0"/>
              </a:rPr>
              <a:t>Customer churn are the one who stopped using service of your business.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Traditional churn analysis focus on customer churn after it occurs. Our system predict churn before it happens.</a:t>
            </a:r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  <a:cs typeface="Times New Roman" panose="02020603050405020304" pitchFamily="18" charset="0"/>
              </a:rPr>
              <a:t>Objective is to develop a superior machine learning system to predict customer churn.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Our system empowers businesses to implement more effective retention strategies, boosting customer lifetime value.</a:t>
            </a:r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69284-1656-1E26-BEDC-0346D9F9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988" y="466191"/>
            <a:ext cx="4485388" cy="975231"/>
          </a:xfrm>
        </p:spPr>
        <p:txBody>
          <a:bodyPr>
            <a:normAutofit/>
          </a:bodyPr>
          <a:lstStyle/>
          <a:p>
            <a:r>
              <a:rPr lang="en-IN" b="1" u="sng" dirty="0"/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56A1CB-BC97-85A8-5EB9-D054B7E23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884966"/>
              </p:ext>
            </p:extLst>
          </p:nvPr>
        </p:nvGraphicFramePr>
        <p:xfrm>
          <a:off x="1219200" y="1441422"/>
          <a:ext cx="10094259" cy="4780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728">
                  <a:extLst>
                    <a:ext uri="{9D8B030D-6E8A-4147-A177-3AD203B41FA5}">
                      <a16:colId xmlns:a16="http://schemas.microsoft.com/office/drawing/2014/main" val="341623520"/>
                    </a:ext>
                  </a:extLst>
                </a:gridCol>
                <a:gridCol w="1515402">
                  <a:extLst>
                    <a:ext uri="{9D8B030D-6E8A-4147-A177-3AD203B41FA5}">
                      <a16:colId xmlns:a16="http://schemas.microsoft.com/office/drawing/2014/main" val="4011266161"/>
                    </a:ext>
                  </a:extLst>
                </a:gridCol>
                <a:gridCol w="2332035">
                  <a:extLst>
                    <a:ext uri="{9D8B030D-6E8A-4147-A177-3AD203B41FA5}">
                      <a16:colId xmlns:a16="http://schemas.microsoft.com/office/drawing/2014/main" val="812800586"/>
                    </a:ext>
                  </a:extLst>
                </a:gridCol>
                <a:gridCol w="1582753">
                  <a:extLst>
                    <a:ext uri="{9D8B030D-6E8A-4147-A177-3AD203B41FA5}">
                      <a16:colId xmlns:a16="http://schemas.microsoft.com/office/drawing/2014/main" val="2796186218"/>
                    </a:ext>
                  </a:extLst>
                </a:gridCol>
                <a:gridCol w="3805341">
                  <a:extLst>
                    <a:ext uri="{9D8B030D-6E8A-4147-A177-3AD203B41FA5}">
                      <a16:colId xmlns:a16="http://schemas.microsoft.com/office/drawing/2014/main" val="4029145812"/>
                    </a:ext>
                  </a:extLst>
                </a:gridCol>
              </a:tblGrid>
              <a:tr h="222484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S.NO</a:t>
                      </a:r>
                      <a:endParaRPr lang="en-IN" sz="1600" b="1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TITLE</a:t>
                      </a:r>
                      <a:endParaRPr lang="en-IN" sz="1600" b="1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AUTHORS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YEAR</a:t>
                      </a:r>
                      <a:endParaRPr lang="en-IN" sz="1600" b="1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OUTCOMES</a:t>
                      </a:r>
                      <a:endParaRPr lang="en-IN" sz="1600" b="1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3843493"/>
                  </a:ext>
                </a:extLst>
              </a:tr>
              <a:tr h="1547377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MLPNN: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Multi-layer perceptron neural network</a:t>
                      </a:r>
                      <a:endParaRPr lang="en-IN" sz="1600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Omar Adwan et al.</a:t>
                      </a:r>
                      <a:endParaRPr lang="en-IN" sz="1600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2016</a:t>
                      </a:r>
                      <a:endParaRPr lang="en-US" sz="1600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The results recommend that the MLPNN and SVM models have higher preciseness and lower value practicality. </a:t>
                      </a:r>
                      <a:endParaRPr lang="en-US" sz="1600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04665"/>
                  </a:ext>
                </a:extLst>
              </a:tr>
              <a:tr h="1694587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Advanced regularization and clipping techniques </a:t>
                      </a:r>
                      <a:endParaRPr lang="en-IN" sz="1600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M.Feindta et al</a:t>
                      </a:r>
                      <a:r>
                        <a:rPr lang="en-IN" sz="1600" b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.</a:t>
                      </a:r>
                      <a:endParaRPr lang="en-IN" sz="1600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2018</a:t>
                      </a:r>
                      <a:endParaRPr lang="en-US" sz="1600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K-Nearest Neighbors offers accurate predictions. Random Forest is preferred as it splits the trees based on a subset of features to improve the bagging.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optimization of the model through feature engineering is suggested</a:t>
                      </a:r>
                      <a:endParaRPr lang="en-US" sz="1600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566517"/>
                  </a:ext>
                </a:extLst>
              </a:tr>
              <a:tr h="1252956"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 b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KNN, RF, and SVM</a:t>
                      </a:r>
                      <a:endParaRPr lang="en-US" sz="1600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IN" sz="160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Edwine </a:t>
                      </a:r>
                      <a:r>
                        <a:rPr lang="en-IN" sz="1600" b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et al.</a:t>
                      </a:r>
                      <a:endParaRPr lang="en-IN" sz="1600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2023</a:t>
                      </a:r>
                    </a:p>
                    <a:p>
                      <a:pPr>
                        <a:lnSpc>
                          <a:spcPts val="1500"/>
                        </a:lnSpc>
                      </a:pPr>
                      <a:endParaRPr lang="en-US" sz="1600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</a:pPr>
                      <a:r>
                        <a:rPr lang="en-US" sz="16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The Stochastic Gradient Booster is preferred as it checks the training samples at random instead of all and helps to reach the global minimum faster.</a:t>
                      </a:r>
                      <a:endParaRPr lang="en-US" sz="1600" b="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598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133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FEBD2-92A2-7C5F-80A6-098C12F26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507" y="399522"/>
            <a:ext cx="9905998" cy="622454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2723A-85CA-4135-3CDF-307A7CA1A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7447" y="1084729"/>
            <a:ext cx="9905999" cy="584059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Module 1: Data Collection &amp; Preprocessing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Data Source:</a:t>
            </a:r>
            <a:r>
              <a:rPr lang="en-US" b="0" i="0" dirty="0">
                <a:effectLst/>
                <a:latin typeface="Roboto" panose="02000000000000000000" pitchFamily="2" charset="0"/>
              </a:rPr>
              <a:t> Kaggle dataset: Telco Customer Churn.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Data Cleaning: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Removed irrelevant column ('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customerID</a:t>
            </a:r>
            <a:r>
              <a:rPr lang="en-US" b="0" i="0" dirty="0">
                <a:effectLst/>
                <a:latin typeface="Roboto" panose="02000000000000000000" pitchFamily="2" charset="0"/>
              </a:rPr>
              <a:t>').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Handled missing values in '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TotalCharges</a:t>
            </a:r>
            <a:r>
              <a:rPr lang="en-US" b="0" i="0" dirty="0">
                <a:effectLst/>
                <a:latin typeface="Roboto" panose="02000000000000000000" pitchFamily="2" charset="0"/>
              </a:rPr>
              <a:t>' by replacing them with 0.0.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Converted '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TotalCharges</a:t>
            </a:r>
            <a:r>
              <a:rPr lang="en-US" b="0" i="0" dirty="0">
                <a:effectLst/>
                <a:latin typeface="Roboto" panose="02000000000000000000" pitchFamily="2" charset="0"/>
              </a:rPr>
              <a:t>' to a numerical data type (float).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Addressing Data Imbalance: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Observed class imbalance in the 'Churn' variable.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Applied SMOTE (Synthetic Minority Over-sampling Technique) to balance the dataset and improve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265983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45048-650D-D7A6-ABD5-FBC82137B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51012"/>
            <a:ext cx="10091364" cy="6454588"/>
          </a:xfrm>
        </p:spPr>
        <p:txBody>
          <a:bodyPr>
            <a:noAutofit/>
          </a:bodyPr>
          <a:lstStyle/>
          <a:p>
            <a:pPr marL="457200" lvl="1" indent="0" algn="l">
              <a:buNone/>
            </a:pPr>
            <a:endParaRPr lang="en-US" b="0" i="0" dirty="0">
              <a:effectLst/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Module 2: Exploratory Data Analysis (EDA)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Insights: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Analyzed numerical features ('tenure', '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MonthlyCharges</a:t>
            </a:r>
            <a:r>
              <a:rPr lang="en-US" b="0" i="0" dirty="0">
                <a:effectLst/>
                <a:latin typeface="Roboto" panose="02000000000000000000" pitchFamily="2" charset="0"/>
              </a:rPr>
              <a:t>', '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TotalCharges</a:t>
            </a:r>
            <a:r>
              <a:rPr lang="en-US" b="0" i="0" dirty="0">
                <a:effectLst/>
                <a:latin typeface="Roboto" panose="02000000000000000000" pitchFamily="2" charset="0"/>
              </a:rPr>
              <a:t>') using histograms and box plots, revealing distributions and potential outliers.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Explored categorical features using count plots to understand their frequencies and relationships with churn.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Calculated the correlation between numerical features using a heatmap.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Roboto" panose="02000000000000000000" pitchFamily="2" charset="0"/>
              </a:rPr>
              <a:t>Findings: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Identified patterns in customer behavior based on tenure, monthly charges, and total charges.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Observed relationships between categorical features and churn, such as contract type and internet service.</a:t>
            </a:r>
          </a:p>
        </p:txBody>
      </p:sp>
    </p:spTree>
    <p:extLst>
      <p:ext uri="{BB962C8B-B14F-4D97-AF65-F5344CB8AC3E}">
        <p14:creationId xmlns:p14="http://schemas.microsoft.com/office/powerpoint/2010/main" val="24292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113F81-6C48-6F3F-DBD5-696B47FB9DFA}"/>
              </a:ext>
            </a:extLst>
          </p:cNvPr>
          <p:cNvSpPr txBox="1"/>
          <p:nvPr/>
        </p:nvSpPr>
        <p:spPr>
          <a:xfrm>
            <a:off x="1169893" y="-152399"/>
            <a:ext cx="10529048" cy="5765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lnSpc>
                <a:spcPct val="150000"/>
              </a:lnSpc>
            </a:pPr>
            <a:endParaRPr lang="en-US" sz="2400" b="0" i="0" dirty="0">
              <a:effectLst/>
              <a:latin typeface="Roboto" panose="02000000000000000000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US" sz="2400" b="1" i="0" dirty="0">
                <a:effectLst/>
                <a:latin typeface="Roboto" panose="02000000000000000000" pitchFamily="2" charset="0"/>
              </a:rPr>
              <a:t>Module 3: Feature Engineering &amp; Selection</a:t>
            </a:r>
            <a:endParaRPr lang="en-US" sz="2400" b="0" i="0" dirty="0">
              <a:effectLst/>
              <a:latin typeface="Roboto" panose="02000000000000000000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US" sz="2400" b="1" i="0" dirty="0">
                <a:effectLst/>
                <a:latin typeface="Roboto" panose="02000000000000000000" pitchFamily="2" charset="0"/>
              </a:rPr>
              <a:t>Encoding Categorical Features:</a:t>
            </a:r>
            <a:endParaRPr lang="en-US" sz="2400" b="0" i="0" dirty="0">
              <a:effectLst/>
              <a:latin typeface="Roboto" panose="02000000000000000000" pitchFamily="2" charset="0"/>
            </a:endParaRP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Used Label Encoding to convert categorical columns ('</a:t>
            </a:r>
            <a:r>
              <a:rPr lang="en-US" sz="2000" b="0" i="0" dirty="0" err="1">
                <a:effectLst/>
                <a:latin typeface="Roboto" panose="02000000000000000000" pitchFamily="2" charset="0"/>
              </a:rPr>
              <a:t>SeniorCitizen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', 'gender', 'Partner', etc.) into numerical representations for model compatibility.</a:t>
            </a:r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Stored encoders using pickle for future use.</a:t>
            </a:r>
          </a:p>
          <a:p>
            <a:pPr algn="l">
              <a:lnSpc>
                <a:spcPct val="150000"/>
              </a:lnSpc>
            </a:pPr>
            <a:r>
              <a:rPr lang="en-US" sz="2400" b="1" i="0" dirty="0">
                <a:effectLst/>
                <a:latin typeface="Roboto" panose="02000000000000000000" pitchFamily="2" charset="0"/>
              </a:rPr>
              <a:t>Module 4: Model Selection and Training</a:t>
            </a:r>
            <a:endParaRPr lang="en-US" sz="2400" b="0" i="0" dirty="0">
              <a:effectLst/>
              <a:latin typeface="Roboto" panose="02000000000000000000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US" sz="2400" b="1" i="0" dirty="0">
                <a:effectLst/>
                <a:latin typeface="Roboto" panose="02000000000000000000" pitchFamily="2" charset="0"/>
              </a:rPr>
              <a:t>Models Considered:</a:t>
            </a:r>
            <a:r>
              <a:rPr lang="en-US" sz="24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 err="1">
                <a:effectLst/>
                <a:latin typeface="Roboto" panose="02000000000000000000" pitchFamily="2" charset="0"/>
              </a:rPr>
              <a:t>CatBoost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 and </a:t>
            </a:r>
            <a:r>
              <a:rPr lang="en-US" sz="2000" b="0" i="0" dirty="0" err="1">
                <a:effectLst/>
                <a:latin typeface="Roboto" panose="02000000000000000000" pitchFamily="2" charset="0"/>
              </a:rPr>
              <a:t>XGBoost</a:t>
            </a:r>
            <a:r>
              <a:rPr lang="en-US" sz="2400" b="0" i="0" dirty="0">
                <a:effectLst/>
                <a:latin typeface="Roboto" panose="02000000000000000000" pitchFamily="2" charset="0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2400" b="1" i="0" dirty="0">
                <a:effectLst/>
                <a:latin typeface="Roboto" panose="02000000000000000000" pitchFamily="2" charset="0"/>
              </a:rPr>
              <a:t>Model Performance:</a:t>
            </a:r>
            <a:r>
              <a:rPr lang="en-US" sz="2000" dirty="0">
                <a:latin typeface="Roboto" panose="02000000000000000000" pitchFamily="2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</a:rPr>
              <a:t>Used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 5-fold cross-validation </a:t>
            </a:r>
            <a:r>
              <a:rPr lang="en-US" sz="2000" dirty="0">
                <a:latin typeface="Roboto" panose="02000000000000000000" pitchFamily="2" charset="0"/>
              </a:rPr>
              <a:t>to increase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 accuracy.</a:t>
            </a:r>
          </a:p>
        </p:txBody>
      </p:sp>
    </p:spTree>
    <p:extLst>
      <p:ext uri="{BB962C8B-B14F-4D97-AF65-F5344CB8AC3E}">
        <p14:creationId xmlns:p14="http://schemas.microsoft.com/office/powerpoint/2010/main" val="247018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E792-4B62-F93A-C7E7-8C4DCC03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3895" y="413312"/>
            <a:ext cx="3272976" cy="733142"/>
          </a:xfrm>
        </p:spPr>
        <p:txBody>
          <a:bodyPr/>
          <a:lstStyle/>
          <a:p>
            <a:r>
              <a:rPr lang="en-IN" b="1" u="sng" dirty="0"/>
              <a:t>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94C024-5E26-4934-6070-AE582B478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999" y="1561216"/>
            <a:ext cx="7612754" cy="451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87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09406-36E0-67EB-61CD-BDA52EBA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371" y="478559"/>
            <a:ext cx="9905998" cy="44828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 explanation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87ACD-D8A9-ED6F-CF15-29589A697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926840"/>
            <a:ext cx="10663518" cy="5625550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1800" b="1" i="0" dirty="0" err="1">
                <a:effectLst/>
                <a:latin typeface="Roboto" panose="02000000000000000000" pitchFamily="2" charset="0"/>
              </a:rPr>
              <a:t>XGBoost</a:t>
            </a:r>
            <a:r>
              <a:rPr lang="en-US" sz="1800" b="1" i="0" dirty="0">
                <a:effectLst/>
                <a:latin typeface="Roboto" panose="02000000000000000000" pitchFamily="2" charset="0"/>
              </a:rPr>
              <a:t> (Extreme Gradient Boosting)</a:t>
            </a:r>
            <a:endParaRPr lang="en-US" sz="1800" b="0" i="0" dirty="0">
              <a:effectLst/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en-US" sz="1800" b="1" i="0" dirty="0">
                <a:effectLst/>
                <a:latin typeface="Roboto" panose="02000000000000000000" pitchFamily="2" charset="0"/>
              </a:rPr>
              <a:t>Introduction:</a:t>
            </a:r>
            <a:endParaRPr lang="en-US" sz="1800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sz="1800" b="0" i="0" dirty="0">
                <a:effectLst/>
                <a:latin typeface="Roboto" panose="02000000000000000000" pitchFamily="2" charset="0"/>
              </a:rPr>
              <a:t>A powerful gradient boosting algorithm known for its high accuracy and efficiency.</a:t>
            </a:r>
          </a:p>
          <a:p>
            <a:pPr lvl="1"/>
            <a:r>
              <a:rPr lang="en-US" sz="1800" b="0" i="0" dirty="0">
                <a:effectLst/>
                <a:latin typeface="Roboto" panose="02000000000000000000" pitchFamily="2" charset="0"/>
              </a:rPr>
              <a:t>Widely used in machine learning competitions and real-world applications.</a:t>
            </a:r>
          </a:p>
          <a:p>
            <a:pPr marL="0" indent="0" algn="l">
              <a:buNone/>
            </a:pPr>
            <a:r>
              <a:rPr lang="en-US" sz="1800" b="1" i="0" dirty="0">
                <a:effectLst/>
                <a:latin typeface="Roboto" panose="02000000000000000000" pitchFamily="2" charset="0"/>
              </a:rPr>
              <a:t>Key Features:</a:t>
            </a:r>
            <a:endParaRPr lang="en-US" sz="1800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sz="1800" b="1" i="0" dirty="0">
                <a:effectLst/>
                <a:latin typeface="Roboto" panose="02000000000000000000" pitchFamily="2" charset="0"/>
              </a:rPr>
              <a:t>Gradient Boosting:</a:t>
            </a:r>
            <a:r>
              <a:rPr lang="en-US" sz="1800" b="0" i="0" dirty="0">
                <a:effectLst/>
                <a:latin typeface="Roboto" panose="02000000000000000000" pitchFamily="2" charset="0"/>
              </a:rPr>
              <a:t> Builds an ensemble of decision trees sequentially, where each tree corrects the errors of its predecessors.</a:t>
            </a:r>
          </a:p>
          <a:p>
            <a:pPr lvl="1"/>
            <a:r>
              <a:rPr lang="en-US" sz="1800" b="1" i="0" dirty="0">
                <a:effectLst/>
                <a:latin typeface="Roboto" panose="02000000000000000000" pitchFamily="2" charset="0"/>
              </a:rPr>
              <a:t>Regularization:</a:t>
            </a:r>
            <a:r>
              <a:rPr lang="en-US" sz="1800" b="0" i="0" dirty="0">
                <a:effectLst/>
                <a:latin typeface="Roboto" panose="02000000000000000000" pitchFamily="2" charset="0"/>
              </a:rPr>
              <a:t> Prevents overfitting by penalizing complex models, improving generalization.</a:t>
            </a:r>
          </a:p>
          <a:p>
            <a:pPr lvl="1"/>
            <a:r>
              <a:rPr lang="en-US" sz="1800" b="1" i="0" dirty="0">
                <a:effectLst/>
                <a:latin typeface="Roboto" panose="02000000000000000000" pitchFamily="2" charset="0"/>
              </a:rPr>
              <a:t>Parallel Processing:</a:t>
            </a:r>
            <a:r>
              <a:rPr lang="en-US" sz="1800" b="0" i="0" dirty="0">
                <a:effectLst/>
                <a:latin typeface="Roboto" panose="02000000000000000000" pitchFamily="2" charset="0"/>
              </a:rPr>
              <a:t> Utilizes multiple cores for faster training.</a:t>
            </a:r>
          </a:p>
          <a:p>
            <a:pPr lvl="1"/>
            <a:r>
              <a:rPr lang="en-US" sz="1800" b="1" i="0" dirty="0">
                <a:effectLst/>
                <a:latin typeface="Roboto" panose="02000000000000000000" pitchFamily="2" charset="0"/>
              </a:rPr>
              <a:t>Handling Missing Values:</a:t>
            </a:r>
            <a:r>
              <a:rPr lang="en-US" sz="1800" b="0" i="0" dirty="0">
                <a:effectLst/>
                <a:latin typeface="Roboto" panose="02000000000000000000" pitchFamily="2" charset="0"/>
              </a:rPr>
              <a:t> Built-in capabilities to handle missing data without imputation.</a:t>
            </a:r>
          </a:p>
          <a:p>
            <a:pPr marL="0" indent="0" algn="l">
              <a:buNone/>
            </a:pPr>
            <a:r>
              <a:rPr lang="en-US" sz="1800" b="1" i="0" dirty="0">
                <a:effectLst/>
                <a:latin typeface="Roboto" panose="02000000000000000000" pitchFamily="2" charset="0"/>
              </a:rPr>
              <a:t>Advantages:</a:t>
            </a:r>
            <a:endParaRPr lang="en-US" sz="1800" b="0" i="0" dirty="0">
              <a:effectLst/>
              <a:latin typeface="Roboto" panose="02000000000000000000" pitchFamily="2" charset="0"/>
            </a:endParaRPr>
          </a:p>
          <a:p>
            <a:pPr lvl="1"/>
            <a:r>
              <a:rPr lang="en-US" sz="1800" b="0" i="0" dirty="0">
                <a:effectLst/>
                <a:latin typeface="Roboto" panose="02000000000000000000" pitchFamily="2" charset="0"/>
              </a:rPr>
              <a:t>High predictive accuracy.</a:t>
            </a:r>
          </a:p>
          <a:p>
            <a:pPr lvl="1"/>
            <a:r>
              <a:rPr lang="en-US" sz="1800" b="0" i="0" dirty="0">
                <a:effectLst/>
                <a:latin typeface="Roboto" panose="02000000000000000000" pitchFamily="2" charset="0"/>
              </a:rPr>
              <a:t>Handles </a:t>
            </a:r>
            <a:r>
              <a:rPr lang="en-US" sz="1800" dirty="0">
                <a:latin typeface="Roboto" panose="02000000000000000000" pitchFamily="2" charset="0"/>
              </a:rPr>
              <a:t>missing </a:t>
            </a:r>
            <a:r>
              <a:rPr lang="en-US" sz="1800" dirty="0" err="1">
                <a:latin typeface="Roboto" panose="02000000000000000000" pitchFamily="2" charset="0"/>
              </a:rPr>
              <a:t>vscalable.alues</a:t>
            </a:r>
            <a:r>
              <a:rPr lang="en-US" sz="1800" dirty="0">
                <a:latin typeface="Roboto" panose="02000000000000000000" pitchFamily="2" charset="0"/>
              </a:rPr>
              <a:t> </a:t>
            </a:r>
            <a:r>
              <a:rPr lang="en-US" sz="1800" b="0" i="0" dirty="0">
                <a:effectLst/>
                <a:latin typeface="Roboto" panose="02000000000000000000" pitchFamily="2" charset="0"/>
              </a:rPr>
              <a:t>effectively.</a:t>
            </a:r>
          </a:p>
          <a:p>
            <a:pPr lvl="1"/>
            <a:r>
              <a:rPr lang="en-US" sz="1800" b="0" i="0" dirty="0">
                <a:effectLst/>
                <a:latin typeface="Roboto" panose="02000000000000000000" pitchFamily="2" charset="0"/>
              </a:rPr>
              <a:t>Feature importance analysis.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83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6D958D-28C7-5BCF-2FF5-270234F9C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329" y="609599"/>
            <a:ext cx="6365270" cy="46616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86ABF7-BABA-9C84-CA92-DF1442B0DA94}"/>
              </a:ext>
            </a:extLst>
          </p:cNvPr>
          <p:cNvSpPr txBox="1"/>
          <p:nvPr/>
        </p:nvSpPr>
        <p:spPr>
          <a:xfrm>
            <a:off x="1138518" y="487025"/>
            <a:ext cx="4616823" cy="6042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i="0" dirty="0">
                <a:effectLst/>
                <a:latin typeface="Roboto" panose="02000000000000000000" pitchFamily="2" charset="0"/>
              </a:rPr>
              <a:t>Start with an initial prediction: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This could be a simple average or a basic model.</a:t>
            </a:r>
          </a:p>
          <a:p>
            <a:pPr algn="l">
              <a:lnSpc>
                <a:spcPct val="150000"/>
              </a:lnSpc>
            </a:pPr>
            <a:r>
              <a:rPr lang="en-US" sz="2000" b="1" i="0" dirty="0">
                <a:effectLst/>
                <a:latin typeface="Roboto" panose="02000000000000000000" pitchFamily="2" charset="0"/>
              </a:rPr>
              <a:t>Build a decision tree: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This tree tries to predict the errors in the initial prediction.</a:t>
            </a:r>
          </a:p>
          <a:p>
            <a:pPr algn="l">
              <a:lnSpc>
                <a:spcPct val="150000"/>
              </a:lnSpc>
            </a:pPr>
            <a:r>
              <a:rPr lang="en-US" sz="2000" b="1" i="0" dirty="0">
                <a:effectLst/>
                <a:latin typeface="Roboto" panose="02000000000000000000" pitchFamily="2" charset="0"/>
              </a:rPr>
              <a:t>Add the tree's predictions to the initial prediction: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This improves the overall prediction.</a:t>
            </a:r>
          </a:p>
          <a:p>
            <a:pPr algn="l">
              <a:lnSpc>
                <a:spcPct val="150000"/>
              </a:lnSpc>
            </a:pPr>
            <a:r>
              <a:rPr lang="en-US" sz="2000" b="1" i="0" dirty="0">
                <a:effectLst/>
                <a:latin typeface="Roboto" panose="02000000000000000000" pitchFamily="2" charset="0"/>
              </a:rPr>
              <a:t>Repeat steps 2 and 3: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 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Build more trees, each focusing on the remaining errors, until a stopping criterion is reached.</a:t>
            </a:r>
          </a:p>
        </p:txBody>
      </p:sp>
    </p:spTree>
    <p:extLst>
      <p:ext uri="{BB962C8B-B14F-4D97-AF65-F5344CB8AC3E}">
        <p14:creationId xmlns:p14="http://schemas.microsoft.com/office/powerpoint/2010/main" val="2246935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626F25-A5F0-36E1-8149-EAD47EC5002D}"/>
              </a:ext>
            </a:extLst>
          </p:cNvPr>
          <p:cNvSpPr txBox="1"/>
          <p:nvPr/>
        </p:nvSpPr>
        <p:spPr>
          <a:xfrm>
            <a:off x="1362635" y="489734"/>
            <a:ext cx="9466729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 err="1">
                <a:effectLst/>
                <a:latin typeface="Roboto" panose="02000000000000000000" pitchFamily="2" charset="0"/>
              </a:rPr>
              <a:t>CatBoost</a:t>
            </a:r>
            <a:r>
              <a:rPr lang="en-US" sz="2400" b="1" i="0" dirty="0">
                <a:effectLst/>
                <a:latin typeface="Roboto" panose="02000000000000000000" pitchFamily="2" charset="0"/>
              </a:rPr>
              <a:t> (Categorical Boosting)</a:t>
            </a:r>
            <a:endParaRPr lang="en-US" sz="2400" b="0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en-US" sz="2400" b="1" i="0" dirty="0">
                <a:effectLst/>
                <a:latin typeface="Roboto" panose="02000000000000000000" pitchFamily="2" charset="0"/>
              </a:rPr>
              <a:t>Introduction:</a:t>
            </a:r>
            <a:endParaRPr lang="en-US" sz="2400" b="0" i="0" dirty="0">
              <a:effectLst/>
              <a:latin typeface="Roboto" panose="02000000000000000000" pitchFamily="2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A gradient boosting algorithm designed to handle categorical features effectively.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Developed by </a:t>
            </a:r>
            <a:r>
              <a:rPr lang="en-US" sz="2000" b="1" i="0" dirty="0">
                <a:effectLst/>
                <a:latin typeface="Roboto" panose="02000000000000000000" pitchFamily="2" charset="0"/>
              </a:rPr>
              <a:t>Yandex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 and known for its robust performance on datasets with categorical variables.</a:t>
            </a:r>
          </a:p>
          <a:p>
            <a:pPr algn="l"/>
            <a:r>
              <a:rPr lang="en-US" sz="2400" b="1" i="0" dirty="0">
                <a:effectLst/>
                <a:latin typeface="Roboto" panose="02000000000000000000" pitchFamily="2" charset="0"/>
              </a:rPr>
              <a:t>Key Features:</a:t>
            </a:r>
            <a:endParaRPr lang="en-US" sz="2400" b="0" i="0" dirty="0">
              <a:effectLst/>
              <a:latin typeface="Roboto" panose="02000000000000000000" pitchFamily="2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Roboto" panose="02000000000000000000" pitchFamily="2" charset="0"/>
              </a:rPr>
              <a:t>Ordered Boosting: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 Reduces overfitting by using a novel boosting scheme that avoids target leakage.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Roboto" panose="02000000000000000000" pitchFamily="2" charset="0"/>
              </a:rPr>
              <a:t>Categorical Feature Handling: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 Automatically handles categorical features without the need for explicit encoding.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Roboto" panose="02000000000000000000" pitchFamily="2" charset="0"/>
              </a:rPr>
              <a:t>Fast and Scalable: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 Optimized for speed and efficiency.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b="1" i="0" dirty="0">
                <a:effectLst/>
                <a:latin typeface="Roboto" panose="02000000000000000000" pitchFamily="2" charset="0"/>
              </a:rPr>
              <a:t>GPU Support:</a:t>
            </a:r>
            <a:r>
              <a:rPr lang="en-US" sz="2000" b="0" i="0" dirty="0">
                <a:effectLst/>
                <a:latin typeface="Roboto" panose="02000000000000000000" pitchFamily="2" charset="0"/>
              </a:rPr>
              <a:t> Enables faster training on GPUs.</a:t>
            </a:r>
          </a:p>
          <a:p>
            <a:pPr algn="l"/>
            <a:r>
              <a:rPr lang="en-US" sz="2400" b="1" i="0" dirty="0">
                <a:effectLst/>
                <a:latin typeface="Roboto" panose="02000000000000000000" pitchFamily="2" charset="0"/>
              </a:rPr>
              <a:t>Advantages:</a:t>
            </a:r>
            <a:endParaRPr lang="en-US" sz="2400" b="0" i="0" dirty="0">
              <a:effectLst/>
              <a:latin typeface="Roboto" panose="02000000000000000000" pitchFamily="2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Excellent performance with categorical data.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Reduced overfitting.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Fast and scalable.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Roboto" panose="02000000000000000000" pitchFamily="2" charset="0"/>
              </a:rPr>
              <a:t>Improved accuracy compared to traditional gradient boosting methods.</a:t>
            </a:r>
          </a:p>
        </p:txBody>
      </p:sp>
    </p:spTree>
    <p:extLst>
      <p:ext uri="{BB962C8B-B14F-4D97-AF65-F5344CB8AC3E}">
        <p14:creationId xmlns:p14="http://schemas.microsoft.com/office/powerpoint/2010/main" val="2003790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7D524-5683-CD38-68F4-3244E1A9E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1371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564</TotalTime>
  <Words>849</Words>
  <Application>Microsoft Office PowerPoint</Application>
  <PresentationFormat>Widescreen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Abadi</vt:lpstr>
      <vt:lpstr>Arial</vt:lpstr>
      <vt:lpstr>Calibri</vt:lpstr>
      <vt:lpstr>Roboto</vt:lpstr>
      <vt:lpstr>Times New Roman</vt:lpstr>
      <vt:lpstr>Tw Cen MT</vt:lpstr>
      <vt:lpstr>Wingdings</vt:lpstr>
      <vt:lpstr>Circuit</vt:lpstr>
      <vt:lpstr>PowerPoint Presentation</vt:lpstr>
      <vt:lpstr>Index </vt:lpstr>
      <vt:lpstr>PowerPoint Presentation</vt:lpstr>
      <vt:lpstr>LITERATURE SURVEY</vt:lpstr>
      <vt:lpstr>MODULES</vt:lpstr>
      <vt:lpstr>PowerPoint Presentation</vt:lpstr>
      <vt:lpstr>PowerPoint Presentation</vt:lpstr>
      <vt:lpstr>Architecture</vt:lpstr>
      <vt:lpstr>Algorithm explanation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salman</dc:creator>
  <cp:lastModifiedBy>shubham salman</cp:lastModifiedBy>
  <cp:revision>6</cp:revision>
  <dcterms:created xsi:type="dcterms:W3CDTF">2025-01-06T08:29:48Z</dcterms:created>
  <dcterms:modified xsi:type="dcterms:W3CDTF">2025-02-08T08:35:30Z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