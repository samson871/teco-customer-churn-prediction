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5122" y="525474"/>
            <a:ext cx="6668478" cy="609600"/>
          </a:xfrm>
        </p:spPr>
        <p:txBody>
          <a:bodyPr>
            <a:no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N.B.K.R INSTITUTE OF SCIENCE &amp; TECHNOLOGY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1C05F4-E593-F974-93FD-36F58EB7A2AA}"/>
              </a:ext>
            </a:extLst>
          </p:cNvPr>
          <p:cNvSpPr txBox="1"/>
          <p:nvPr/>
        </p:nvSpPr>
        <p:spPr>
          <a:xfrm>
            <a:off x="5997381" y="1062098"/>
            <a:ext cx="3475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(Autonomous)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Vidyanagar, Tirupati - 524413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189DC0-608B-0BF5-7F77-F7E3350E95F7}"/>
              </a:ext>
            </a:extLst>
          </p:cNvPr>
          <p:cNvSpPr txBox="1"/>
          <p:nvPr/>
        </p:nvSpPr>
        <p:spPr>
          <a:xfrm>
            <a:off x="2225040" y="2442421"/>
            <a:ext cx="91135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Churning Prediction using </a:t>
            </a:r>
            <a:r>
              <a:rPr lang="en-IN" sz="3200">
                <a:latin typeface="Times New Roman" panose="02020603050405020304" pitchFamily="18" charset="0"/>
                <a:cs typeface="Times New Roman" panose="02020603050405020304" pitchFamily="18" charset="0"/>
              </a:rPr>
              <a:t>XGBOOST and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54EE30-A04E-EAF6-9414-666AE3055839}"/>
              </a:ext>
            </a:extLst>
          </p:cNvPr>
          <p:cNvSpPr txBox="1"/>
          <p:nvPr/>
        </p:nvSpPr>
        <p:spPr>
          <a:xfrm>
            <a:off x="2409415" y="3679368"/>
            <a:ext cx="457048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(AI&amp;DS):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Y. Samson(21KB1A30A2)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U. Siva Raju (21KB1A3093)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S. Sri Charan(21KB1A3089)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M. Lazar (21KB1A3054)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N. Charan Reddy(22KB5A3013)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4B34CD-F630-8999-B3B1-99B91F4836B3}"/>
              </a:ext>
            </a:extLst>
          </p:cNvPr>
          <p:cNvSpPr txBox="1"/>
          <p:nvPr/>
        </p:nvSpPr>
        <p:spPr>
          <a:xfrm>
            <a:off x="7598915" y="4418032"/>
            <a:ext cx="45930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P. Jyothi,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IT and AI&amp;DS.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88E897-680C-BF1E-6747-BA6B01954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297" y="423874"/>
            <a:ext cx="1492250" cy="155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6679ED-182C-24E4-C101-B829CB91C9D7}"/>
              </a:ext>
            </a:extLst>
          </p:cNvPr>
          <p:cNvSpPr txBox="1"/>
          <p:nvPr/>
        </p:nvSpPr>
        <p:spPr>
          <a:xfrm flipH="1">
            <a:off x="1257300" y="579120"/>
            <a:ext cx="39014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6D955E-D233-F617-FC22-431935FE84BC}"/>
              </a:ext>
            </a:extLst>
          </p:cNvPr>
          <p:cNvSpPr txBox="1"/>
          <p:nvPr/>
        </p:nvSpPr>
        <p:spPr>
          <a:xfrm>
            <a:off x="1257299" y="1385233"/>
            <a:ext cx="1031613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Abadi" panose="020B0604020104020204" pitchFamily="34" charset="0"/>
                <a:cs typeface="Times New Roman" panose="02020603050405020304" pitchFamily="18" charset="0"/>
              </a:rPr>
              <a:t>Customer retention is essential for business success.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Abadi" panose="020B0604020104020204" pitchFamily="34" charset="0"/>
                <a:cs typeface="Times New Roman" panose="02020603050405020304" pitchFamily="18" charset="0"/>
              </a:rPr>
              <a:t>Retaining existing clients is more cost-effective than acquiring new ones.</a:t>
            </a:r>
          </a:p>
          <a:p>
            <a:pPr algn="just"/>
            <a:endParaRPr lang="en-US" sz="2200" dirty="0"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Abadi" panose="020B0604020104020204" pitchFamily="34" charset="0"/>
                <a:cs typeface="Times New Roman" panose="02020603050405020304" pitchFamily="18" charset="0"/>
              </a:rPr>
              <a:t>Customer churn are the one who stopped using service of your business.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Abadi" panose="020B060402010402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Traditional churn analysis focus on customer churn after it occurs. Our system predict churn before it happens.</a:t>
            </a:r>
            <a:endParaRPr lang="en-US" sz="2200" dirty="0"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Abadi" panose="020B0604020104020204" pitchFamily="34" charset="0"/>
                <a:cs typeface="Times New Roman" panose="02020603050405020304" pitchFamily="18" charset="0"/>
              </a:rPr>
              <a:t>Objective is to develop a superior machine learning system to predict customer churn.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Abadi" panose="020B060402010402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Our system empowers businesses to implement more effective retention strategies, boosting customer lifetime value.</a:t>
            </a:r>
            <a:endParaRPr lang="en-US" sz="2200" dirty="0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689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203BE8A-F921-2C69-C0CC-96BF4CAD343A}"/>
              </a:ext>
            </a:extLst>
          </p:cNvPr>
          <p:cNvSpPr txBox="1"/>
          <p:nvPr/>
        </p:nvSpPr>
        <p:spPr>
          <a:xfrm flipH="1">
            <a:off x="1257300" y="812202"/>
            <a:ext cx="39014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182BE8-9F13-29BD-F735-98BCC77FEA4E}"/>
              </a:ext>
            </a:extLst>
          </p:cNvPr>
          <p:cNvSpPr txBox="1"/>
          <p:nvPr/>
        </p:nvSpPr>
        <p:spPr>
          <a:xfrm>
            <a:off x="1257300" y="1824890"/>
            <a:ext cx="104927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Abadi" panose="020B0604020104020204" pitchFamily="34" charset="0"/>
              </a:rPr>
              <a:t>Machine learning algorithms like Logistic Regression, K-Nearest Neighbors, Random Forests, and Stochastic Gradient Boosters.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Abadi" panose="020B0604020104020204" pitchFamily="34" charset="0"/>
              </a:rPr>
              <a:t>Do not include the critical steps for data preprocessing like outlier removal, data balancing and feature selection.</a:t>
            </a:r>
          </a:p>
          <a:p>
            <a:pPr algn="just"/>
            <a:endParaRPr lang="en-US" sz="22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Abadi" panose="020B0604020104020204" pitchFamily="34" charset="0"/>
              </a:rPr>
              <a:t>Uses static features which not provide complete picture of changing customer activity patterns and may have lower accuracy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417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88A33F2-D162-CB24-7AD6-A8B094E8A1F7}"/>
              </a:ext>
            </a:extLst>
          </p:cNvPr>
          <p:cNvSpPr txBox="1"/>
          <p:nvPr/>
        </p:nvSpPr>
        <p:spPr>
          <a:xfrm flipH="1">
            <a:off x="1619250" y="1254162"/>
            <a:ext cx="8953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Existing System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11CCD8-28D6-B78B-5A2C-3DB1E3E35ADE}"/>
              </a:ext>
            </a:extLst>
          </p:cNvPr>
          <p:cNvSpPr txBox="1"/>
          <p:nvPr/>
        </p:nvSpPr>
        <p:spPr>
          <a:xfrm flipH="1">
            <a:off x="2330151" y="2304429"/>
            <a:ext cx="5631180" cy="2803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i="0" dirty="0">
                <a:solidFill>
                  <a:srgbClr val="E2E2E5"/>
                </a:solidFill>
                <a:effectLst/>
                <a:latin typeface="Abadi" panose="020B0604020104020204" pitchFamily="34" charset="0"/>
              </a:rPr>
              <a:t>Data Imbalance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i="0">
                <a:solidFill>
                  <a:srgbClr val="E2E2E5"/>
                </a:solidFill>
                <a:effectLst/>
                <a:latin typeface="Abadi" panose="020B0604020104020204" pitchFamily="34" charset="0"/>
              </a:rPr>
              <a:t>Sensitive to </a:t>
            </a:r>
            <a:r>
              <a:rPr lang="en-IN" sz="2400" i="0" dirty="0">
                <a:solidFill>
                  <a:srgbClr val="E2E2E5"/>
                </a:solidFill>
                <a:effectLst/>
                <a:latin typeface="Abadi" panose="020B0604020104020204" pitchFamily="34" charset="0"/>
              </a:rPr>
              <a:t>Outliers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i="0" dirty="0">
                <a:solidFill>
                  <a:srgbClr val="E2E2E5"/>
                </a:solidFill>
                <a:effectLst/>
                <a:latin typeface="Abadi" panose="020B0604020104020204" pitchFamily="34" charset="0"/>
              </a:rPr>
              <a:t>Limited Feature Set</a:t>
            </a:r>
            <a:endParaRPr lang="en-IN" sz="2400" dirty="0">
              <a:solidFill>
                <a:srgbClr val="E2E2E5"/>
              </a:solidFill>
              <a:latin typeface="Abadi" panose="020B0604020104020204" pitchFamily="34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i="0" dirty="0">
                <a:solidFill>
                  <a:srgbClr val="E2E2E5"/>
                </a:solidFill>
                <a:effectLst/>
                <a:latin typeface="Abadi" panose="020B0604020104020204" pitchFamily="34" charset="0"/>
              </a:rPr>
              <a:t>Lower Accuracy 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rgbClr val="E2E2E5"/>
                </a:solidFill>
                <a:latin typeface="Abadi" panose="020B0604020104020204" pitchFamily="34" charset="0"/>
                <a:cs typeface="Times New Roman" panose="02020603050405020304" pitchFamily="18" charset="0"/>
              </a:rPr>
              <a:t>Overfitting</a:t>
            </a:r>
            <a:endParaRPr lang="en-IN" sz="2400" dirty="0"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410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98BA32B-192A-A96F-72F0-B687D38918A3}"/>
              </a:ext>
            </a:extLst>
          </p:cNvPr>
          <p:cNvSpPr txBox="1"/>
          <p:nvPr/>
        </p:nvSpPr>
        <p:spPr>
          <a:xfrm flipH="1">
            <a:off x="1257300" y="579120"/>
            <a:ext cx="39014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A7A362-A12A-9CC3-EB0E-A22E7BA8D77E}"/>
              </a:ext>
            </a:extLst>
          </p:cNvPr>
          <p:cNvSpPr txBox="1"/>
          <p:nvPr/>
        </p:nvSpPr>
        <p:spPr>
          <a:xfrm>
            <a:off x="1257300" y="1519535"/>
            <a:ext cx="1014222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22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Abadi" panose="020B0604020104020204" pitchFamily="34" charset="0"/>
              </a:rPr>
              <a:t>SMOTE oversampling for Data Imbalance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Abadi" panose="020B0604020104020204" pitchFamily="34" charset="0"/>
              </a:rPr>
              <a:t>IQR method for  Outlier Detection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Abadi" panose="020B0604020104020204" pitchFamily="34" charset="0"/>
              </a:rPr>
              <a:t>Feature engineering to handle limited Feature set and Feature selection.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Abadi" panose="020B0604020104020204" pitchFamily="34" charset="0"/>
              </a:rPr>
              <a:t>Dimensionality reduction through PCA to improve model efficiency and reduce overfitting.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Abadi" panose="020B0604020104020204" pitchFamily="34" charset="0"/>
              </a:rPr>
              <a:t>Used advanced gradient boosting algorithms like </a:t>
            </a:r>
            <a:r>
              <a:rPr lang="en-US" sz="2200" dirty="0" err="1">
                <a:latin typeface="Abadi" panose="020B0604020104020204" pitchFamily="34" charset="0"/>
              </a:rPr>
              <a:t>XGBoost</a:t>
            </a:r>
            <a:r>
              <a:rPr lang="en-US" sz="2200" dirty="0">
                <a:latin typeface="Abadi" panose="020B0604020104020204" pitchFamily="34" charset="0"/>
              </a:rPr>
              <a:t> and </a:t>
            </a:r>
            <a:r>
              <a:rPr lang="en-US" sz="2200" dirty="0" err="1">
                <a:latin typeface="Abadi" panose="020B0604020104020204" pitchFamily="34" charset="0"/>
              </a:rPr>
              <a:t>CatBoost</a:t>
            </a:r>
            <a:r>
              <a:rPr lang="en-US" sz="2200" dirty="0">
                <a:latin typeface="Abadi" panose="020B0604020104020204" pitchFamily="34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2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318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F9FA2A6E-472F-07D1-4293-FAFBEF6B348C}"/>
              </a:ext>
            </a:extLst>
          </p:cNvPr>
          <p:cNvSpPr txBox="1"/>
          <p:nvPr/>
        </p:nvSpPr>
        <p:spPr>
          <a:xfrm>
            <a:off x="1670123" y="2090172"/>
            <a:ext cx="1069848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Improved Accuracy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endParaRPr lang="en-US" sz="2400" dirty="0">
              <a:latin typeface="Abadi" panose="020B0604020104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Robust Model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endParaRPr lang="en-US" sz="2400" dirty="0">
              <a:latin typeface="Abadi" panose="020B0604020104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Actionable Insights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endParaRPr lang="en-US" sz="2400" dirty="0">
              <a:latin typeface="Abadi" panose="020B0604020104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Abadi" panose="020B0604020104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Better Retention Strategies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4A49B1-944E-6635-AE10-6EC05D5BB3F0}"/>
              </a:ext>
            </a:extLst>
          </p:cNvPr>
          <p:cNvSpPr txBox="1"/>
          <p:nvPr/>
        </p:nvSpPr>
        <p:spPr>
          <a:xfrm flipH="1">
            <a:off x="1461694" y="1023297"/>
            <a:ext cx="89535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</a:t>
            </a:r>
          </a:p>
        </p:txBody>
      </p:sp>
    </p:spTree>
    <p:extLst>
      <p:ext uri="{BB962C8B-B14F-4D97-AF65-F5344CB8AC3E}">
        <p14:creationId xmlns:p14="http://schemas.microsoft.com/office/powerpoint/2010/main" val="2919556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304800"/>
            <a:ext cx="9905998" cy="1478570"/>
          </a:xfrm>
        </p:spPr>
        <p:txBody>
          <a:bodyPr>
            <a:normAutofit/>
          </a:bodyPr>
          <a:lstStyle/>
          <a:p>
            <a:pPr lvl="0" algn="ctr"/>
            <a:r>
              <a:rPr lang="en-IN" sz="3200" dirty="0"/>
              <a:t>Software Requirements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F5361-68C0-4BF5-80C8-F1E7BF92B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755294"/>
            <a:ext cx="9905999" cy="41423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IN" dirty="0"/>
              <a:t>													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4FC61E2-60B5-5400-7999-645B4F9FF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180677"/>
              </p:ext>
            </p:extLst>
          </p:nvPr>
        </p:nvGraphicFramePr>
        <p:xfrm>
          <a:off x="1434306" y="1600200"/>
          <a:ext cx="9320210" cy="402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60105">
                  <a:extLst>
                    <a:ext uri="{9D8B030D-6E8A-4147-A177-3AD203B41FA5}">
                      <a16:colId xmlns:a16="http://schemas.microsoft.com/office/drawing/2014/main" val="4012355463"/>
                    </a:ext>
                  </a:extLst>
                </a:gridCol>
                <a:gridCol w="4660105">
                  <a:extLst>
                    <a:ext uri="{9D8B030D-6E8A-4147-A177-3AD203B41FA5}">
                      <a16:colId xmlns:a16="http://schemas.microsoft.com/office/drawing/2014/main" val="538080341"/>
                    </a:ext>
                  </a:extLst>
                </a:gridCol>
              </a:tblGrid>
              <a:tr h="743992">
                <a:tc>
                  <a:txBody>
                    <a:bodyPr/>
                    <a:lstStyle/>
                    <a:p>
                      <a:r>
                        <a:rPr lang="en-IN" sz="2400" dirty="0"/>
                        <a:t>Operating System :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Windows 10, macOS, Linux.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306499"/>
                  </a:ext>
                </a:extLst>
              </a:tr>
              <a:tr h="743992">
                <a:tc>
                  <a:txBody>
                    <a:bodyPr/>
                    <a:lstStyle/>
                    <a:p>
                      <a:r>
                        <a:rPr lang="en-IN" sz="2400" dirty="0"/>
                        <a:t>Platform: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Python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0872768"/>
                  </a:ext>
                </a:extLst>
              </a:tr>
              <a:tr h="1062845">
                <a:tc>
                  <a:txBody>
                    <a:bodyPr/>
                    <a:lstStyle/>
                    <a:p>
                      <a:r>
                        <a:rPr lang="en-IN" sz="2400" dirty="0"/>
                        <a:t>Frontend: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dirty="0"/>
                        <a:t>No specific frontend requirement as the project focuses on backend data analysis and </a:t>
                      </a:r>
                      <a:r>
                        <a:rPr lang="en-IN" sz="2400" dirty="0" err="1"/>
                        <a:t>modeling</a:t>
                      </a:r>
                      <a:r>
                        <a:rPr lang="en-IN" sz="2400" dirty="0"/>
                        <a:t>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6217629"/>
                  </a:ext>
                </a:extLst>
              </a:tr>
              <a:tr h="1075711">
                <a:tc>
                  <a:txBody>
                    <a:bodyPr/>
                    <a:lstStyle/>
                    <a:p>
                      <a:r>
                        <a:rPr lang="en-IN" sz="2400" dirty="0"/>
                        <a:t>Backend: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Python libraries such as Pandas,                 Scikit-learn, Matplotlib/Seaborn,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053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613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705824E-6DC4-61B6-F9B4-DE6E624BC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304800"/>
            <a:ext cx="9905998" cy="1478570"/>
          </a:xfrm>
        </p:spPr>
        <p:txBody>
          <a:bodyPr>
            <a:normAutofit/>
          </a:bodyPr>
          <a:lstStyle/>
          <a:p>
            <a:pPr lvl="0" algn="ctr"/>
            <a:r>
              <a:rPr lang="en-IN" sz="3200" dirty="0"/>
              <a:t>HARDWARE Requirements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B291A60-1319-861B-A428-AC2861CCE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977041"/>
              </p:ext>
            </p:extLst>
          </p:nvPr>
        </p:nvGraphicFramePr>
        <p:xfrm>
          <a:off x="1910080" y="1908386"/>
          <a:ext cx="8117840" cy="293793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58920">
                  <a:extLst>
                    <a:ext uri="{9D8B030D-6E8A-4147-A177-3AD203B41FA5}">
                      <a16:colId xmlns:a16="http://schemas.microsoft.com/office/drawing/2014/main" val="4108262554"/>
                    </a:ext>
                  </a:extLst>
                </a:gridCol>
                <a:gridCol w="4058920">
                  <a:extLst>
                    <a:ext uri="{9D8B030D-6E8A-4147-A177-3AD203B41FA5}">
                      <a16:colId xmlns:a16="http://schemas.microsoft.com/office/drawing/2014/main" val="707139284"/>
                    </a:ext>
                  </a:extLst>
                </a:gridCol>
              </a:tblGrid>
              <a:tr h="979311">
                <a:tc>
                  <a:txBody>
                    <a:bodyPr/>
                    <a:lstStyle/>
                    <a:p>
                      <a:r>
                        <a:rPr lang="en-IN" sz="2400" b="0" dirty="0"/>
                        <a:t>Processor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dirty="0"/>
                        <a:t>Intel Dual Core 2.00GHZ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827411"/>
                  </a:ext>
                </a:extLst>
              </a:tr>
              <a:tr h="979311">
                <a:tc>
                  <a:txBody>
                    <a:bodyPr/>
                    <a:lstStyle/>
                    <a:p>
                      <a:r>
                        <a:rPr lang="en-IN" sz="2400" b="0" dirty="0"/>
                        <a:t>Hard disk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dirty="0"/>
                        <a:t>40 GB(minimum)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237806"/>
                  </a:ext>
                </a:extLst>
              </a:tr>
              <a:tr h="979311">
                <a:tc>
                  <a:txBody>
                    <a:bodyPr/>
                    <a:lstStyle/>
                    <a:p>
                      <a:r>
                        <a:rPr lang="en-IN" sz="2400" b="0" dirty="0"/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dirty="0"/>
                        <a:t>4 GB(minimum)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406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2789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742453C-BF13-A2A4-DB66-B689A8AA29FE}"/>
              </a:ext>
            </a:extLst>
          </p:cNvPr>
          <p:cNvSpPr txBox="1"/>
          <p:nvPr/>
        </p:nvSpPr>
        <p:spPr>
          <a:xfrm>
            <a:off x="1615440" y="1396008"/>
            <a:ext cx="955548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Omar Adwan, Hossam Faris, Khalid </a:t>
            </a:r>
            <a:r>
              <a:rPr lang="en-IN" dirty="0" err="1"/>
              <a:t>Jaradat</a:t>
            </a:r>
            <a:r>
              <a:rPr lang="en-IN" dirty="0"/>
              <a:t>, Osama </a:t>
            </a:r>
            <a:r>
              <a:rPr lang="en-IN" dirty="0" err="1"/>
              <a:t>Harfoushi</a:t>
            </a:r>
            <a:r>
              <a:rPr lang="en-IN" dirty="0"/>
              <a:t>, </a:t>
            </a:r>
            <a:r>
              <a:rPr lang="en-IN" dirty="0" err="1"/>
              <a:t>Nazeeh</a:t>
            </a:r>
            <a:r>
              <a:rPr lang="en-IN" dirty="0"/>
              <a:t> </a:t>
            </a:r>
            <a:r>
              <a:rPr lang="en-IN" dirty="0" err="1"/>
              <a:t>Ghatasheh</a:t>
            </a:r>
            <a:r>
              <a:rPr lang="en-IN" dirty="0"/>
              <a:t>, Predicting customer churn in telecom industry using multilayer </a:t>
            </a:r>
            <a:r>
              <a:rPr lang="en-IN" dirty="0" err="1"/>
              <a:t>preceptron</a:t>
            </a:r>
            <a:r>
              <a:rPr lang="en-IN" dirty="0"/>
              <a:t> neural networks: </a:t>
            </a:r>
            <a:r>
              <a:rPr lang="en-IN" dirty="0" err="1"/>
              <a:t>modeling</a:t>
            </a:r>
            <a:r>
              <a:rPr lang="en-IN" dirty="0"/>
              <a:t> and analysis, Life Sci. J. 11 (3) (2014) 75–81.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Mohammad Ridwan Ismail, Mohd Khalid Awang, M. Nordin A. Rahman, </a:t>
            </a:r>
            <a:r>
              <a:rPr lang="en-IN" dirty="0" err="1"/>
              <a:t>Mokhairi</a:t>
            </a:r>
            <a:r>
              <a:rPr lang="en-IN" dirty="0"/>
              <a:t> Makhtar, A multi-layer perceptron approach for customer churn prediction, International Journal of Multimedia and Ubiquitous Engineering 10 (7) (2015) 213–222.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Farhad Shaikh, Brinda </a:t>
            </a:r>
            <a:r>
              <a:rPr lang="en-IN" dirty="0" err="1"/>
              <a:t>Pardeshi</a:t>
            </a:r>
            <a:r>
              <a:rPr lang="en-IN" dirty="0"/>
              <a:t>, Ajay </a:t>
            </a:r>
            <a:r>
              <a:rPr lang="en-IN" dirty="0" err="1"/>
              <a:t>Jachak</a:t>
            </a:r>
            <a:r>
              <a:rPr lang="en-IN" dirty="0"/>
              <a:t>, Akash </a:t>
            </a:r>
            <a:r>
              <a:rPr lang="en-IN" dirty="0" err="1"/>
              <a:t>Bendale</a:t>
            </a:r>
            <a:r>
              <a:rPr lang="en-IN" dirty="0"/>
              <a:t>, Nandakishor </a:t>
            </a:r>
            <a:r>
              <a:rPr lang="en-IN" dirty="0" err="1"/>
              <a:t>Sonune</a:t>
            </a:r>
            <a:r>
              <a:rPr lang="en-IN" dirty="0"/>
              <a:t>, Mangal </a:t>
            </a:r>
            <a:r>
              <a:rPr lang="en-IN" dirty="0" err="1"/>
              <a:t>Katkar</a:t>
            </a:r>
            <a:r>
              <a:rPr lang="en-IN" dirty="0"/>
              <a:t>, Customer churn prediction using </a:t>
            </a:r>
            <a:r>
              <a:rPr lang="en-IN" dirty="0" err="1"/>
              <a:t>nlp</a:t>
            </a:r>
            <a:r>
              <a:rPr lang="en-IN" dirty="0"/>
              <a:t> and machine learning: an overview, International Journal Of Advance Scientific Research And Engineering Trends 6 (2) (2021) 40–45.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Anuj Sharma, </a:t>
            </a:r>
            <a:r>
              <a:rPr lang="en-IN" dirty="0" err="1"/>
              <a:t>DrPrabin</a:t>
            </a:r>
            <a:r>
              <a:rPr lang="en-IN" dirty="0"/>
              <a:t> Kumar </a:t>
            </a:r>
            <a:r>
              <a:rPr lang="en-IN" dirty="0" err="1"/>
              <a:t>Panigrahi</a:t>
            </a:r>
            <a:r>
              <a:rPr lang="en-IN" dirty="0"/>
              <a:t>, A neural network based approach for predicting customer churn in cellular network services, Int. J. </a:t>
            </a:r>
            <a:r>
              <a:rPr lang="en-IN" dirty="0" err="1"/>
              <a:t>Comput</a:t>
            </a:r>
            <a:r>
              <a:rPr lang="en-IN" dirty="0"/>
              <a:t>. Appl. 27 (11) (2011) 26–31.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Ammara</a:t>
            </a:r>
            <a:r>
              <a:rPr lang="en-US" dirty="0"/>
              <a:t> Ahmed, D. Maheswari Linen, A review and analysis of churn prediction methods for customer retention in telecom industries, in: 2017 4th International Conference on Advanced Computing and Communication Systems (ICACCS), IEEE, 2017, pp. 1–7.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3775B7-33B7-E91E-BCBA-939493C894EF}"/>
              </a:ext>
            </a:extLst>
          </p:cNvPr>
          <p:cNvSpPr txBox="1"/>
          <p:nvPr/>
        </p:nvSpPr>
        <p:spPr>
          <a:xfrm>
            <a:off x="1615440" y="487680"/>
            <a:ext cx="2484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1705514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ACF7DF-6900-1493-B68E-05ACFF65FCCE}"/>
              </a:ext>
            </a:extLst>
          </p:cNvPr>
          <p:cNvSpPr/>
          <p:nvPr/>
        </p:nvSpPr>
        <p:spPr>
          <a:xfrm>
            <a:off x="4263831" y="2967335"/>
            <a:ext cx="366433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121104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354</TotalTime>
  <Words>615</Words>
  <Application>Microsoft Office PowerPoint</Application>
  <PresentationFormat>Widescreen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Abadi</vt:lpstr>
      <vt:lpstr>Arial</vt:lpstr>
      <vt:lpstr>Calibri</vt:lpstr>
      <vt:lpstr>Times New Roman</vt:lpstr>
      <vt:lpstr>Tw Cen MT</vt:lpstr>
      <vt:lpstr>Wingdings</vt:lpstr>
      <vt:lpstr>Circuit</vt:lpstr>
      <vt:lpstr>N.B.K.R INSTITUTE OF SCIENCE &amp; TECHNOLOGY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Software Requirements </vt:lpstr>
      <vt:lpstr>HARDWARE Requirements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salman</dc:creator>
  <cp:lastModifiedBy>shubham salman</cp:lastModifiedBy>
  <cp:revision>5</cp:revision>
  <dcterms:created xsi:type="dcterms:W3CDTF">2025-01-06T08:29:48Z</dcterms:created>
  <dcterms:modified xsi:type="dcterms:W3CDTF">2025-02-05T06:56:30Z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