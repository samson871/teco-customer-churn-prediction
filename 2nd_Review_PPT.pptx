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4"/>
  </p:sldMasterIdLst>
  <p:notesMasterIdLst>
    <p:notesMasterId r:id="rId21"/>
  </p:notesMasterIdLst>
  <p:handoutMasterIdLst>
    <p:handoutMasterId r:id="rId22"/>
  </p:handoutMasterIdLst>
  <p:sldIdLst>
    <p:sldId id="256" r:id="rId5"/>
    <p:sldId id="266" r:id="rId6"/>
    <p:sldId id="258" r:id="rId7"/>
    <p:sldId id="259" r:id="rId8"/>
    <p:sldId id="270" r:id="rId9"/>
    <p:sldId id="267" r:id="rId10"/>
    <p:sldId id="271" r:id="rId11"/>
    <p:sldId id="272" r:id="rId12"/>
    <p:sldId id="273" r:id="rId13"/>
    <p:sldId id="268" r:id="rId14"/>
    <p:sldId id="274" r:id="rId15"/>
    <p:sldId id="275" r:id="rId16"/>
    <p:sldId id="269" r:id="rId17"/>
    <p:sldId id="276" r:id="rId18"/>
    <p:sldId id="265" r:id="rId19"/>
    <p:sldId id="278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0" d="100"/>
          <a:sy n="60" d="100"/>
        </p:scale>
        <p:origin x="167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9B3372-74CF-4E21-A4D4-286B22AA5A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3762BE-D43C-49F5-99A5-BF49C69592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5766F-5EC0-4797-B4D1-777FCB005B11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89E452-9BCA-4AF5-9A9C-233BF410EA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BF9F63-CE4F-44E2-A07D-7E654DE9F5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0AC76B-F5B1-4D6E-BACD-2A80744AC9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1452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4B5EC-152C-4627-80C0-63B10D5574EF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EE60E-651F-40CC-AD73-C00F10CE42B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417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25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808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2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15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20541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622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41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401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2556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28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454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05272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53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96050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160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60534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062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4/8/2025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09873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8D3E5-C7A3-47DF-A374-46BF83A69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55122" y="525474"/>
            <a:ext cx="6668478" cy="609600"/>
          </a:xfrm>
        </p:spPr>
        <p:txBody>
          <a:bodyPr>
            <a:noAutofit/>
          </a:bodyPr>
          <a:lstStyle/>
          <a:p>
            <a:pPr algn="ctr"/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N.B.K.R INSTITUTE OF SCIENCE &amp; TECHNOLOGY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C05F4-E593-F974-93FD-36F58EB7A2AA}"/>
              </a:ext>
            </a:extLst>
          </p:cNvPr>
          <p:cNvSpPr txBox="1"/>
          <p:nvPr/>
        </p:nvSpPr>
        <p:spPr>
          <a:xfrm>
            <a:off x="5997381" y="1062098"/>
            <a:ext cx="34750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(Autonomous)</a:t>
            </a:r>
          </a:p>
          <a:p>
            <a:pPr algn="ctr"/>
            <a:r>
              <a:rPr lang="en-I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Vidyanagar, Tirupati - 524413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189DC0-608B-0BF5-7F77-F7E3350E95F7}"/>
              </a:ext>
            </a:extLst>
          </p:cNvPr>
          <p:cNvSpPr txBox="1"/>
          <p:nvPr/>
        </p:nvSpPr>
        <p:spPr>
          <a:xfrm>
            <a:off x="2225040" y="2442421"/>
            <a:ext cx="911351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Churning Prediction using XGBOOST and CATBOOST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54EE30-A04E-EAF6-9414-666AE3055839}"/>
              </a:ext>
            </a:extLst>
          </p:cNvPr>
          <p:cNvSpPr txBox="1"/>
          <p:nvPr/>
        </p:nvSpPr>
        <p:spPr>
          <a:xfrm>
            <a:off x="2409415" y="3679368"/>
            <a:ext cx="4570482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(AI&amp;DS):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1. Y. Samson(21KB1A30A2)</a:t>
            </a:r>
            <a:b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2. U. Siva Raju (21KB1A3093)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3. S. Sri Charan(21KB1A3089)</a:t>
            </a:r>
            <a:b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4. M. Lazar (21KB1A3054)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5. N. Charan Reddy(22KB5A3013)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4B34CD-F630-8999-B3B1-99B91F4836B3}"/>
              </a:ext>
            </a:extLst>
          </p:cNvPr>
          <p:cNvSpPr txBox="1"/>
          <p:nvPr/>
        </p:nvSpPr>
        <p:spPr>
          <a:xfrm>
            <a:off x="7598915" y="4418032"/>
            <a:ext cx="459308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Mrs. P. Jyothi, 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</a:t>
            </a:r>
          </a:p>
          <a:p>
            <a:r>
              <a:rPr lang="en-IN" sz="2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IT and AI&amp;DS.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788E897-680C-BF1E-6747-BA6B019548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297" y="423874"/>
            <a:ext cx="1492250" cy="1559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9359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62D2-6111-988A-161A-B0DA413D3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7171" y="293957"/>
            <a:ext cx="8550169" cy="1478570"/>
          </a:xfrm>
        </p:spPr>
        <p:txBody>
          <a:bodyPr/>
          <a:lstStyle/>
          <a:p>
            <a:r>
              <a:rPr lang="en-IN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IN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E7640-C2E5-EF03-97AA-C6E7113B3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7172" y="1404974"/>
            <a:ext cx="9905999" cy="354171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Algorithm Explanation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Detailed Implementation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Screenshots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Conclusion and future Enhancement</a:t>
            </a:r>
            <a:endParaRPr lang="en-IN" sz="2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8058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6679ED-182C-24E4-C101-B829CB91C9D7}"/>
              </a:ext>
            </a:extLst>
          </p:cNvPr>
          <p:cNvSpPr txBox="1"/>
          <p:nvPr/>
        </p:nvSpPr>
        <p:spPr>
          <a:xfrm flipH="1">
            <a:off x="1777253" y="640675"/>
            <a:ext cx="431874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6D955E-D233-F617-FC22-431935FE84BC}"/>
              </a:ext>
            </a:extLst>
          </p:cNvPr>
          <p:cNvSpPr txBox="1"/>
          <p:nvPr/>
        </p:nvSpPr>
        <p:spPr>
          <a:xfrm>
            <a:off x="1777253" y="1348800"/>
            <a:ext cx="9231406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  <a:cs typeface="Times New Roman" panose="02020603050405020304" pitchFamily="18" charset="0"/>
              </a:rPr>
              <a:t>Customer retention is essential for business success.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  <a:cs typeface="Times New Roman" panose="02020603050405020304" pitchFamily="18" charset="0"/>
              </a:rPr>
              <a:t>Retaining existing clients is more cost-effective than acquiring new ones.</a:t>
            </a:r>
          </a:p>
          <a:p>
            <a:pPr algn="just"/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  <a:cs typeface="Times New Roman" panose="02020603050405020304" pitchFamily="18" charset="0"/>
              </a:rPr>
              <a:t>Customer churn are the one who stopped using service of your business.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Traditional churn analysis focus on customer churn after it occurs. Our system predict churn before it happens.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  <a:cs typeface="Times New Roman" panose="02020603050405020304" pitchFamily="18" charset="0"/>
              </a:rPr>
              <a:t>Objective is to develop a superior machine learning system to predict customer churn.</a:t>
            </a: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adi" panose="020B0604020104020204" pitchFamily="34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  <a:ea typeface="Tahoma" panose="020B0604030504040204" pitchFamily="34" charset="0"/>
                <a:cs typeface="Times New Roman" panose="02020603050405020304" pitchFamily="18" charset="0"/>
              </a:rPr>
              <a:t>Our system empowers businesses to implement more effective retention strategies, boosting customer lifetime value.</a:t>
            </a:r>
            <a:endParaRPr lang="en-US" sz="2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badi" panose="020B0604020104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689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61B95C-6E44-69F5-2EE4-0B12DD501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4127" y="71671"/>
            <a:ext cx="5008908" cy="1111670"/>
          </a:xfrm>
        </p:spPr>
        <p:txBody>
          <a:bodyPr>
            <a:normAutofit/>
          </a:bodyPr>
          <a:lstStyle/>
          <a:p>
            <a:r>
              <a:rPr lang="en-IN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Algorithm Explanation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1E4099-99CF-9216-9ED5-9FDCCCC0C597}"/>
              </a:ext>
            </a:extLst>
          </p:cNvPr>
          <p:cNvSpPr txBox="1"/>
          <p:nvPr/>
        </p:nvSpPr>
        <p:spPr>
          <a:xfrm>
            <a:off x="1013012" y="1362635"/>
            <a:ext cx="10596281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XG BOOST</a:t>
            </a: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(Extreme Gradient Boosting) is a powerful and efficient implementation of gradient boosting.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It builds an ensemble of decision trees in a sequential manner to improve model accuracy.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Known for speed and performance, especially on structured/tabular data like customer records.</a:t>
            </a:r>
          </a:p>
          <a:p>
            <a:pPr algn="l"/>
            <a:r>
              <a:rPr lang="en-IN" b="1" i="0" u="sng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Content</a:t>
            </a:r>
            <a:r>
              <a:rPr lang="en-IN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:</a:t>
            </a:r>
            <a:r>
              <a:rPr lang="en-IN" b="1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			</a:t>
            </a:r>
            <a:endParaRPr lang="en-IN" b="1" i="0" dirty="0">
              <a:solidFill>
                <a:srgbClr val="E3E3E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Roboto" panose="02000000000000000000" pitchFamily="2" charset="0"/>
            </a:endParaRP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Ensemble Method: Combines multiple decision trees for improved accuracy.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Boosting: Sequentially adds trees to correct errors of previous ones.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Gradient Descent: Minimizes a loss function for better predictions.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Regularization: Prevents overfitting with L1 (Lasso) and L2 (Ridge).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Tree Pruning: Controls complexity for better generalization.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Parallel Processing: Utilizes multiple cores for faster training.</a:t>
            </a:r>
          </a:p>
        </p:txBody>
      </p:sp>
    </p:spTree>
    <p:extLst>
      <p:ext uri="{BB962C8B-B14F-4D97-AF65-F5344CB8AC3E}">
        <p14:creationId xmlns:p14="http://schemas.microsoft.com/office/powerpoint/2010/main" val="3282095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2E26892-F8F2-6234-A96A-F4B9EFF23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376" y="475129"/>
            <a:ext cx="6221506" cy="6057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121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A6F16-4EA8-0E4D-E766-FADC45437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7AF24-B5DA-A696-FCB6-16B0CECDD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88" y="286869"/>
            <a:ext cx="5761411" cy="735105"/>
          </a:xfrm>
        </p:spPr>
        <p:txBody>
          <a:bodyPr>
            <a:normAutofit/>
          </a:bodyPr>
          <a:lstStyle/>
          <a:p>
            <a:r>
              <a:rPr lang="en-IN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Detailed Implementation</a:t>
            </a:r>
            <a:endParaRPr lang="en-IN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DE479F-08C7-3542-A0C1-0EDC2278F73F}"/>
              </a:ext>
            </a:extLst>
          </p:cNvPr>
          <p:cNvSpPr txBox="1"/>
          <p:nvPr/>
        </p:nvSpPr>
        <p:spPr>
          <a:xfrm>
            <a:off x="1237129" y="1272988"/>
            <a:ext cx="10040471" cy="42126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#MODEL TRAINING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smote = SMOTE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X_train_smote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y_train_smote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smote.fit_resample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X_train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y_train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b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Model training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models = 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LogisticRegression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LogisticRegression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),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),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XGBClassifier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XGBClassifier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42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22828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60520A-B62A-66FC-60A0-62F6E5E53B54}"/>
              </a:ext>
            </a:extLst>
          </p:cNvPr>
          <p:cNvSpPr txBox="1"/>
          <p:nvPr/>
        </p:nvSpPr>
        <p:spPr>
          <a:xfrm>
            <a:off x="1326777" y="407853"/>
            <a:ext cx="903642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best_model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1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None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best_accuracy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model_name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model </a:t>
            </a:r>
            <a:r>
              <a:rPr lang="en-IN" b="1" dirty="0">
                <a:solidFill>
                  <a:srgbClr val="82C6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models.items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():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model.fit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X_train_smote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y_train_smote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model.predict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X_test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accuracy =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accuracy_score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y_test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y_pred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b="1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model_name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: 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accuracy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:.4f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accuracy &gt;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best_accuracy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best_accuracy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accuracy</a:t>
            </a:r>
          </a:p>
          <a:p>
            <a:pPr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best_model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model</a:t>
            </a:r>
            <a:b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IN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"Best model"</a:t>
            </a:r>
            <a:r>
              <a:rPr lang="en-IN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best_model</a:t>
            </a:r>
            <a:r>
              <a:rPr lang="en-IN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br>
              <a:rPr lang="en-IN" b="1" u="sng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b="1" u="sng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#OUTPUT</a:t>
            </a:r>
            <a:br>
              <a:rPr lang="en-IN" b="1" u="sng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endParaRPr lang="en-IN" b="1" u="sng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IN" b="0" i="0" dirty="0" err="1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LogisticRegression</a:t>
            </a:r>
            <a:r>
              <a:rPr lang="en-IN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: 0.7665 </a:t>
            </a:r>
            <a:r>
              <a:rPr lang="en-IN" b="0" i="0" dirty="0" err="1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RandomForestClassifier</a:t>
            </a:r>
            <a:r>
              <a:rPr lang="en-IN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: 0.7786 </a:t>
            </a:r>
            <a:r>
              <a:rPr lang="en-IN" b="0" i="0" dirty="0" err="1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XGBClassifier</a:t>
            </a:r>
            <a:r>
              <a:rPr lang="en-IN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: 0.7807 </a:t>
            </a:r>
          </a:p>
          <a:p>
            <a:r>
              <a:rPr lang="en-IN" b="1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Best model: </a:t>
            </a:r>
            <a:r>
              <a:rPr lang="en-IN" b="1" i="0" dirty="0" err="1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XGBClassifier</a:t>
            </a:r>
            <a:r>
              <a:rPr lang="en-IN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0" i="0" dirty="0" err="1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num_parallel_tree</a:t>
            </a:r>
            <a:r>
              <a:rPr lang="en-IN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=None, </a:t>
            </a:r>
            <a:r>
              <a:rPr lang="en-IN" b="0" i="0" dirty="0" err="1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random_state</a:t>
            </a:r>
            <a:r>
              <a:rPr lang="en-IN" b="0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=42, ...)</a:t>
            </a:r>
            <a:endParaRPr lang="en-IN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985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D39950-369C-4664-D03F-0E539A60FF4E}"/>
              </a:ext>
            </a:extLst>
          </p:cNvPr>
          <p:cNvSpPr txBox="1"/>
          <p:nvPr/>
        </p:nvSpPr>
        <p:spPr>
          <a:xfrm>
            <a:off x="1147482" y="0"/>
            <a:ext cx="10040471" cy="75713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pickle</a:t>
            </a:r>
          </a:p>
          <a:p>
            <a:pPr>
              <a:buNone/>
            </a:pP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import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pandas </a:t>
            </a: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pd</a:t>
            </a:r>
          </a:p>
          <a:p>
            <a:pPr>
              <a:buNone/>
            </a:pPr>
            <a:b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Load the saved model and encoders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open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best_model.pkl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rb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f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model =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pickle.load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with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open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encoders.pkl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rb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as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f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encoders =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pickle.load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f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Create a </a:t>
            </a:r>
            <a:r>
              <a:rPr lang="en-IN" b="1" dirty="0" err="1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DataFrame</a:t>
            </a:r>
            <a:r>
              <a:rPr lang="en-IN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 with the input values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pd.DataFrame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([[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6.00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2.00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82.85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460.25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]],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IN" b="1" dirty="0">
              <a:solidFill>
                <a:srgbClr val="D4D4D4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columns=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'gender'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SeniorCitizen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'Partner'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'Dependents'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'tenure'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PhoneService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MultipleLines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InternetService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OnlineSecurity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OnlineBackup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DeviceProtection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TechSupport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StreamingTV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StreamingMovies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'Contract'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PaperlessBilling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PaymentMethod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MonthlyCharges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TotalCharges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’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])</a:t>
            </a:r>
            <a:b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</a:br>
            <a:r>
              <a:rPr lang="en-IN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Identify categorical columns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categorical_cols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'gender'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SeniorCitizen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'Partner'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'Dependents'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PhoneService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MultipleLines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InternetService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OnlineSecurity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OnlineBackup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DeviceProtection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TechSupport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StreamingTV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StreamingMovies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'Contract'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PaperlessBilling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IN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 err="1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PaymentMethod</a:t>
            </a:r>
            <a:r>
              <a:rPr lang="en-IN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</a:t>
            </a:r>
            <a:r>
              <a:rPr lang="en-IN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endParaRPr lang="en-IN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54321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D52AD8-9BEF-2DC3-64DF-AE0056E607DB}"/>
              </a:ext>
            </a:extLst>
          </p:cNvPr>
          <p:cNvSpPr txBox="1"/>
          <p:nvPr/>
        </p:nvSpPr>
        <p:spPr>
          <a:xfrm>
            <a:off x="1317812" y="71719"/>
            <a:ext cx="9941859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Encode categorical columns and print encoded values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1600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for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col </a:t>
            </a:r>
            <a:r>
              <a:rPr lang="en-IN" sz="1600" b="1" dirty="0">
                <a:solidFill>
                  <a:srgbClr val="82C6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16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categorical_cols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sz="1600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Replace unseen values with the most frequent category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sz="16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valid_classes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encoders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.classes_</a:t>
            </a:r>
          </a:p>
          <a:p>
            <a:pPr>
              <a:buNone/>
            </a:pP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sz="16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IN" sz="16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.apply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600" b="1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lambda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x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x </a:t>
            </a:r>
            <a:r>
              <a:rPr lang="en-IN" sz="1600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1600" b="1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x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1600" b="1" dirty="0">
                <a:solidFill>
                  <a:srgbClr val="82C6FF"/>
                </a:solidFill>
                <a:effectLst/>
                <a:latin typeface="Courier New" panose="02070309020205020404" pitchFamily="49" charset="0"/>
              </a:rPr>
              <a:t>in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16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valid_classes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1600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IN" sz="16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valid_classes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IN" sz="16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])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sz="1600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Transform using the encoder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sz="16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encoders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.transform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6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[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col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.</a:t>
            </a:r>
            <a:r>
              <a:rPr lang="en-IN" sz="16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astype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600" b="1" dirty="0">
                <a:solidFill>
                  <a:srgbClr val="4EC9B0"/>
                </a:solidFill>
                <a:effectLst/>
                <a:latin typeface="Courier New" panose="02070309020205020404" pitchFamily="49" charset="0"/>
              </a:rPr>
              <a:t>str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))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sz="1600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Make a prediction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prediction = </a:t>
            </a:r>
            <a:r>
              <a:rPr lang="en-IN" sz="16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model.predict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600" b="1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input_data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)[</a:t>
            </a:r>
            <a:r>
              <a:rPr lang="en-IN" sz="16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]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IN" sz="1600" b="1" dirty="0">
                <a:solidFill>
                  <a:srgbClr val="6AA94F"/>
                </a:solidFill>
                <a:effectLst/>
                <a:latin typeface="Courier New" panose="02070309020205020404" pitchFamily="49" charset="0"/>
              </a:rPr>
              <a:t># Print the result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1600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if</a:t>
            </a: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prediction == </a:t>
            </a:r>
            <a:r>
              <a:rPr lang="en-IN" sz="1600" b="1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sz="1600" b="1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600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"Churn"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IN" sz="1600" b="1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else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IN" sz="1600" b="1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r>
              <a:rPr lang="en-IN" sz="1600" b="1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IN" sz="1600" b="1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print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IN" sz="1600" b="1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"Not Churn"</a:t>
            </a: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b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</a:br>
            <a:b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</a:br>
            <a:r>
              <a:rPr lang="en-IN" sz="1600" b="1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#OUTPUT</a:t>
            </a:r>
          </a:p>
          <a:p>
            <a:r>
              <a:rPr lang="en-IN" sz="1600" b="1" i="0" dirty="0">
                <a:solidFill>
                  <a:srgbClr val="E3E3E3"/>
                </a:solidFill>
                <a:effectLst/>
                <a:latin typeface="Courier New" panose="02070309020205020404" pitchFamily="49" charset="0"/>
              </a:rPr>
              <a:t>Churn</a:t>
            </a:r>
            <a:endParaRPr lang="en-IN" sz="1600" b="1" dirty="0">
              <a:solidFill>
                <a:srgbClr val="DCDCDC"/>
              </a:solidFill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018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A229D-1F2A-769D-12A7-489AE4CBF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4AECA-49DA-B509-5DC2-E3786FD818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118" y="699246"/>
            <a:ext cx="5761411" cy="735105"/>
          </a:xfrm>
        </p:spPr>
        <p:txBody>
          <a:bodyPr>
            <a:normAutofit/>
          </a:bodyPr>
          <a:lstStyle/>
          <a:p>
            <a:r>
              <a:rPr lang="en-IN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Screenshots </a:t>
            </a:r>
            <a:endParaRPr lang="en-IN" sz="4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B99242-FA22-D4CA-6992-B120B307D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7765" y="1721223"/>
            <a:ext cx="8299605" cy="3657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8786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0A24CB-D581-2038-8C73-B79EF5614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553" y="1048870"/>
            <a:ext cx="8789517" cy="49552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85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E31502-42E2-2E2D-EF66-E46CBC009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897" y="770966"/>
            <a:ext cx="9123326" cy="5118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0151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0C781-8BC4-8D02-332B-4BDC7314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BFA3-B91C-1760-B032-1E963B37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7222" y="573736"/>
            <a:ext cx="8244635" cy="1004048"/>
          </a:xfrm>
        </p:spPr>
        <p:txBody>
          <a:bodyPr>
            <a:noAutofit/>
          </a:bodyPr>
          <a:lstStyle/>
          <a:p>
            <a:r>
              <a:rPr lang="en-IN" sz="40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B155082-566D-CFD8-7BEA-A956F1C3E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8019" y="1358166"/>
            <a:ext cx="9624291" cy="51136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Customer Churn Model Development: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We developed a predictive model for customer churn using the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XGBoost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algorithm, known for its high performance with structured data.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Handling Class Imbalance: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To address the imbalance in churn labels, we applied SMOTE (Synthetic Minority Over-sampling Technique), which helped improve model sensitivity toward the minority class.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Performance Evaluation: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We initially assessed model performance using accuracy. Moving forward, we aim to include precision, recall, and F1-score to better evaluate the model, particularly in light of the class imbalance.</a:t>
            </a:r>
          </a:p>
          <a:p>
            <a:pPr marL="342900" lvl="0" indent="-342900" algn="just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Model Saving and Deployment: 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For reusability and smooth deployment, we saved the trained </a:t>
            </a:r>
            <a:r>
              <a:rPr lang="en-US" altLang="en-US" sz="2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XGBoost</a:t>
            </a:r>
            <a:r>
              <a:rPr lang="en-US" alt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model .</a:t>
            </a:r>
          </a:p>
        </p:txBody>
      </p:sp>
    </p:spTree>
    <p:extLst>
      <p:ext uri="{BB962C8B-B14F-4D97-AF65-F5344CB8AC3E}">
        <p14:creationId xmlns:p14="http://schemas.microsoft.com/office/powerpoint/2010/main" val="5437335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BFAB1-673F-CB63-64D0-AE2B26A77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9882" y="-80729"/>
            <a:ext cx="9905998" cy="1478570"/>
          </a:xfrm>
        </p:spPr>
        <p:txBody>
          <a:bodyPr/>
          <a:lstStyle/>
          <a:p>
            <a:r>
              <a:rPr lang="en-IN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3600" cap="none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uture </a:t>
            </a:r>
            <a:r>
              <a:rPr lang="en-IN" sz="3600" cap="none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Enhacement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3BF2D0-74DE-7924-9250-1933D1EB5CD9}"/>
              </a:ext>
            </a:extLst>
          </p:cNvPr>
          <p:cNvSpPr txBox="1"/>
          <p:nvPr/>
        </p:nvSpPr>
        <p:spPr>
          <a:xfrm>
            <a:off x="1057835" y="959224"/>
            <a:ext cx="9905998" cy="6093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Model Deployment:</a:t>
            </a:r>
            <a:r>
              <a:rPr lang="en-US" sz="1600" b="0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 We will deploy the model as a web service or API, allowing seamless integration with our existing systems and applications. This enables real-time access to churn predictions for new customer data.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Data Streaming and Preprocessing:</a:t>
            </a:r>
            <a:r>
              <a:rPr lang="en-US" sz="1600" b="0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 We will integrate a data streaming pipeline to capture and preprocess real-time customer data, ensuring it's compatible with the model's input format. This involves handling missing values, encoding categorical features, and potentially generating new features.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Prediction API:</a:t>
            </a:r>
            <a:r>
              <a:rPr lang="en-US" sz="1600" b="0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 We will develop an API endpoint that accepts customer data as input and returns the predicted churn probability in real-time. This enables other applications or systems within our organization to access churn predictions on demand.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Monitoring and Feedback Loop:</a:t>
            </a:r>
            <a:r>
              <a:rPr lang="en-US" sz="1600" b="0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 We will implement a monitoring system to track the model's performance in real-time, identifying potential drifts or degradation. This feedback loop will trigger model retraining or updates to maintain accuracy and adaptability to evolving churn patterns.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Alerting and Actionable Insights:</a:t>
            </a:r>
            <a:r>
              <a:rPr lang="en-US" sz="1600" b="0" i="0" dirty="0">
                <a:solidFill>
                  <a:srgbClr val="E3E3E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Roboto" panose="02000000000000000000" pitchFamily="2" charset="0"/>
              </a:rPr>
              <a:t> We will integrate an alerting mechanism to notify relevant stakeholders when a customer is identified as high-risk for churn. This allows for proactive interventions and personalized retention strategies to be implemented in a timely manner.</a:t>
            </a:r>
          </a:p>
        </p:txBody>
      </p:sp>
    </p:spTree>
    <p:extLst>
      <p:ext uri="{BB962C8B-B14F-4D97-AF65-F5344CB8AC3E}">
        <p14:creationId xmlns:p14="http://schemas.microsoft.com/office/powerpoint/2010/main" val="12711881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4742453C-BF13-A2A4-DB66-B689A8AA29FE}"/>
              </a:ext>
            </a:extLst>
          </p:cNvPr>
          <p:cNvSpPr txBox="1"/>
          <p:nvPr/>
        </p:nvSpPr>
        <p:spPr>
          <a:xfrm>
            <a:off x="1615440" y="1396008"/>
            <a:ext cx="955548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Omar Adwan, Hossam Faris, Khalid </a:t>
            </a:r>
            <a:r>
              <a:rPr lang="en-IN" dirty="0" err="1"/>
              <a:t>Jaradat</a:t>
            </a:r>
            <a:r>
              <a:rPr lang="en-IN" dirty="0"/>
              <a:t>, Osama </a:t>
            </a:r>
            <a:r>
              <a:rPr lang="en-IN" dirty="0" err="1"/>
              <a:t>Harfoushi</a:t>
            </a:r>
            <a:r>
              <a:rPr lang="en-IN" dirty="0"/>
              <a:t>, </a:t>
            </a:r>
            <a:r>
              <a:rPr lang="en-IN" dirty="0" err="1"/>
              <a:t>Nazeeh</a:t>
            </a:r>
            <a:r>
              <a:rPr lang="en-IN" dirty="0"/>
              <a:t> </a:t>
            </a:r>
            <a:r>
              <a:rPr lang="en-IN" dirty="0" err="1"/>
              <a:t>Ghatasheh</a:t>
            </a:r>
            <a:r>
              <a:rPr lang="en-IN" dirty="0"/>
              <a:t>, Predicting customer churn in telecom industry using multilayer </a:t>
            </a:r>
            <a:r>
              <a:rPr lang="en-IN" dirty="0" err="1"/>
              <a:t>preceptron</a:t>
            </a:r>
            <a:r>
              <a:rPr lang="en-IN" dirty="0"/>
              <a:t> neural networks: </a:t>
            </a:r>
            <a:r>
              <a:rPr lang="en-IN" dirty="0" err="1"/>
              <a:t>modeling</a:t>
            </a:r>
            <a:r>
              <a:rPr lang="en-IN" dirty="0"/>
              <a:t> and analysis, Life Sci. J. 11 (3) (2014) 75–81.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Mohammad Ridwan Ismail, Mohd Khalid Awang, M. Nordin A. Rahman, </a:t>
            </a:r>
            <a:r>
              <a:rPr lang="en-IN" dirty="0" err="1"/>
              <a:t>Mokhairi</a:t>
            </a:r>
            <a:r>
              <a:rPr lang="en-IN" dirty="0"/>
              <a:t> Makhtar, A multi-layer perceptron approach for customer churn prediction, International Journal of Multimedia and Ubiquitous Engineering 10 (7) (2015) 213–222.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Farhad Shaikh, Brinda </a:t>
            </a:r>
            <a:r>
              <a:rPr lang="en-IN" dirty="0" err="1"/>
              <a:t>Pardeshi</a:t>
            </a:r>
            <a:r>
              <a:rPr lang="en-IN" dirty="0"/>
              <a:t>, Ajay </a:t>
            </a:r>
            <a:r>
              <a:rPr lang="en-IN" dirty="0" err="1"/>
              <a:t>Jachak</a:t>
            </a:r>
            <a:r>
              <a:rPr lang="en-IN" dirty="0"/>
              <a:t>, Akash </a:t>
            </a:r>
            <a:r>
              <a:rPr lang="en-IN" dirty="0" err="1"/>
              <a:t>Bendale</a:t>
            </a:r>
            <a:r>
              <a:rPr lang="en-IN" dirty="0"/>
              <a:t>, Nandakishor </a:t>
            </a:r>
            <a:r>
              <a:rPr lang="en-IN" dirty="0" err="1"/>
              <a:t>Sonune</a:t>
            </a:r>
            <a:r>
              <a:rPr lang="en-IN" dirty="0"/>
              <a:t>, Mangal </a:t>
            </a:r>
            <a:r>
              <a:rPr lang="en-IN" dirty="0" err="1"/>
              <a:t>Katkar</a:t>
            </a:r>
            <a:r>
              <a:rPr lang="en-IN" dirty="0"/>
              <a:t>, Customer churn prediction using </a:t>
            </a:r>
            <a:r>
              <a:rPr lang="en-IN" dirty="0" err="1"/>
              <a:t>nlp</a:t>
            </a:r>
            <a:r>
              <a:rPr lang="en-IN" dirty="0"/>
              <a:t> and machine learning: an overview, International Journal Of Advance Scientific Research And Engineering Trends 6 (2) (2021) 40–45.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dirty="0"/>
              <a:t>Anuj Sharma, </a:t>
            </a:r>
            <a:r>
              <a:rPr lang="en-IN" dirty="0" err="1"/>
              <a:t>DrPrabin</a:t>
            </a:r>
            <a:r>
              <a:rPr lang="en-IN" dirty="0"/>
              <a:t> Kumar </a:t>
            </a:r>
            <a:r>
              <a:rPr lang="en-IN" dirty="0" err="1"/>
              <a:t>Panigrahi</a:t>
            </a:r>
            <a:r>
              <a:rPr lang="en-IN" dirty="0"/>
              <a:t>, A neural network based approach for predicting customer churn in cellular network services, Int. J. </a:t>
            </a:r>
            <a:r>
              <a:rPr lang="en-IN" dirty="0" err="1"/>
              <a:t>Comput</a:t>
            </a:r>
            <a:r>
              <a:rPr lang="en-IN" dirty="0"/>
              <a:t>. Appl. 27 (11) (2011) 26–31.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Ammara</a:t>
            </a:r>
            <a:r>
              <a:rPr lang="en-US" dirty="0"/>
              <a:t> Ahmed, D. Maheswari Linen, A review and analysis of churn prediction methods for customer retention in telecom industries, in: 2017 4th International Conference on Advanced Computing and Communication Systems (ICACCS), IEEE, 2017, pp. 1–7.</a:t>
            </a:r>
            <a:endParaRPr lang="en-IN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3775B7-33B7-E91E-BCBA-939493C894EF}"/>
              </a:ext>
            </a:extLst>
          </p:cNvPr>
          <p:cNvSpPr txBox="1"/>
          <p:nvPr/>
        </p:nvSpPr>
        <p:spPr>
          <a:xfrm>
            <a:off x="1615440" y="487680"/>
            <a:ext cx="24841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/>
              <a:t>Reference</a:t>
            </a:r>
          </a:p>
        </p:txBody>
      </p:sp>
    </p:spTree>
    <p:extLst>
      <p:ext uri="{BB962C8B-B14F-4D97-AF65-F5344CB8AC3E}">
        <p14:creationId xmlns:p14="http://schemas.microsoft.com/office/powerpoint/2010/main" val="1705514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7D524-5683-CD38-68F4-3244E1A9E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6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ThankYou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1371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77815013_Problem-solution cycle_RVA_v3" id="{20834410-FC37-46AC-ACB7-FB202F8C4BA9}" vid="{1ED24379-BFF7-4E2F-B7EC-A47C906E21A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579702B-25C7-40D7-9E29-7686B11A966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C0B241-13E5-418D-8920-D23491E2D2C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7866CFD-F94E-4AE5-ACEA-86FEC0F48A1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Problemsolution cycle </Template>
  <TotalTime>658</TotalTime>
  <Words>1438</Words>
  <Application>Microsoft Office PowerPoint</Application>
  <PresentationFormat>Widescreen</PresentationFormat>
  <Paragraphs>115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Abadi</vt:lpstr>
      <vt:lpstr>Arial</vt:lpstr>
      <vt:lpstr>Calibri</vt:lpstr>
      <vt:lpstr>Courier New</vt:lpstr>
      <vt:lpstr>Roboto</vt:lpstr>
      <vt:lpstr>Times New Roman</vt:lpstr>
      <vt:lpstr>Tw Cen MT</vt:lpstr>
      <vt:lpstr>Wingdings</vt:lpstr>
      <vt:lpstr>Circuit</vt:lpstr>
      <vt:lpstr>N.B.K.R INSTITUTE OF SCIENCE &amp; TECHNOLOGY</vt:lpstr>
      <vt:lpstr>Index </vt:lpstr>
      <vt:lpstr>PowerPoint Presentation</vt:lpstr>
      <vt:lpstr>Algorithm Explanation</vt:lpstr>
      <vt:lpstr>PowerPoint Presentation</vt:lpstr>
      <vt:lpstr>Detailed Implementation</vt:lpstr>
      <vt:lpstr>PowerPoint Presentation</vt:lpstr>
      <vt:lpstr>PowerPoint Presentation</vt:lpstr>
      <vt:lpstr>PowerPoint Presentation</vt:lpstr>
      <vt:lpstr>Screenshots </vt:lpstr>
      <vt:lpstr>PowerPoint Presentation</vt:lpstr>
      <vt:lpstr>PowerPoint Presentation</vt:lpstr>
      <vt:lpstr>Conclusion</vt:lpstr>
      <vt:lpstr>Future Enhacement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shubham salman</dc:creator>
  <cp:lastModifiedBy>shubham salman</cp:lastModifiedBy>
  <cp:revision>4</cp:revision>
  <dcterms:created xsi:type="dcterms:W3CDTF">2025-02-05T06:53:30Z</dcterms:created>
  <dcterms:modified xsi:type="dcterms:W3CDTF">2025-04-08T07:07:09Z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