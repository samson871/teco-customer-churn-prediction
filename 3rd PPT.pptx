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8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7" r:id="rId11"/>
    <p:sldId id="270" r:id="rId12"/>
    <p:sldId id="272" r:id="rId13"/>
    <p:sldId id="273" r:id="rId14"/>
    <p:sldId id="274" r:id="rId15"/>
    <p:sldId id="275" r:id="rId16"/>
    <p:sldId id="268" r:id="rId17"/>
    <p:sldId id="276" r:id="rId18"/>
    <p:sldId id="278" r:id="rId19"/>
    <p:sldId id="280" r:id="rId20"/>
    <p:sldId id="271" r:id="rId21"/>
    <p:sldId id="281" r:id="rId22"/>
    <p:sldId id="282" r:id="rId23"/>
    <p:sldId id="283" r:id="rId24"/>
    <p:sldId id="284" r:id="rId25"/>
    <p:sldId id="285" r:id="rId26"/>
    <p:sldId id="269" r:id="rId27"/>
    <p:sldId id="286" r:id="rId28"/>
    <p:sldId id="265" r:id="rId29"/>
    <p:sldId id="28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366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40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71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237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59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645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17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001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86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64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078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113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354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109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145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303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2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926F7A-448A-427C-96EC-FAE2FD5E869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15FAB8-B8A9-4E34-9530-ACA5A6358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46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5122" y="525474"/>
            <a:ext cx="6668478" cy="6096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N.B.K.R INSTITUTE OF SCIENCE &amp; 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C05F4-E593-F974-93FD-36F58EB7A2AA}"/>
              </a:ext>
            </a:extLst>
          </p:cNvPr>
          <p:cNvSpPr txBox="1"/>
          <p:nvPr/>
        </p:nvSpPr>
        <p:spPr>
          <a:xfrm>
            <a:off x="5997381" y="1062098"/>
            <a:ext cx="3475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/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Vidyanagar, Tirupati - 524413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89DC0-608B-0BF5-7F77-F7E3350E95F7}"/>
              </a:ext>
            </a:extLst>
          </p:cNvPr>
          <p:cNvSpPr txBox="1"/>
          <p:nvPr/>
        </p:nvSpPr>
        <p:spPr>
          <a:xfrm>
            <a:off x="2225040" y="2442421"/>
            <a:ext cx="91135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Churning Prediction using XGBOOST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54EE30-A04E-EAF6-9414-666AE3055839}"/>
              </a:ext>
            </a:extLst>
          </p:cNvPr>
          <p:cNvSpPr txBox="1"/>
          <p:nvPr/>
        </p:nvSpPr>
        <p:spPr>
          <a:xfrm>
            <a:off x="3712140" y="3672824"/>
            <a:ext cx="457048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(AI&amp;DS):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Y. Samson(21KB1A30A2)</a:t>
            </a:r>
            <a:b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U. Siva Raju (21KB1A3093)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S. Sri Charan(21KB1A3089)</a:t>
            </a:r>
            <a:b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M. Lazar (21KB1A3054)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 N. Charan Reddy(22KB5A3013)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B34CD-F630-8999-B3B1-99B91F4836B3}"/>
              </a:ext>
            </a:extLst>
          </p:cNvPr>
          <p:cNvSpPr txBox="1"/>
          <p:nvPr/>
        </p:nvSpPr>
        <p:spPr>
          <a:xfrm>
            <a:off x="8297006" y="3679368"/>
            <a:ext cx="4593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Mrs. P. Jyothi, 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 and AI&amp;DS.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88E897-680C-BF1E-6747-BA6B0195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97" y="423874"/>
            <a:ext cx="1492250" cy="15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241A-BAE4-D123-C8C5-533D7863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BEF2D-BE34-5128-3CCC-9C154778A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AND PROPOSED SYSTEM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ALGORITHEM EXPLANATION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IMPLEMENTATION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</a:t>
            </a:r>
          </a:p>
        </p:txBody>
      </p:sp>
    </p:spTree>
    <p:extLst>
      <p:ext uri="{BB962C8B-B14F-4D97-AF65-F5344CB8AC3E}">
        <p14:creationId xmlns:p14="http://schemas.microsoft.com/office/powerpoint/2010/main" val="109213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06EB9F-71D8-0FB5-048A-866FB2C4C90F}"/>
              </a:ext>
            </a:extLst>
          </p:cNvPr>
          <p:cNvSpPr txBox="1"/>
          <p:nvPr/>
        </p:nvSpPr>
        <p:spPr>
          <a:xfrm flipH="1">
            <a:off x="1503106" y="500462"/>
            <a:ext cx="3901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455AD-80A2-140B-A4DC-10925F70D8B1}"/>
              </a:ext>
            </a:extLst>
          </p:cNvPr>
          <p:cNvSpPr txBox="1"/>
          <p:nvPr/>
        </p:nvSpPr>
        <p:spPr>
          <a:xfrm>
            <a:off x="1503106" y="1306575"/>
            <a:ext cx="101117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  <a:cs typeface="Times New Roman" panose="02020603050405020304" pitchFamily="18" charset="0"/>
              </a:rPr>
              <a:t>Customer retention is essential for business success. Retaining existing clients is significantly more cost-effective than acquiring new ones, making the reduction of customer churn a top priority.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  <a:cs typeface="Times New Roman" panose="02020603050405020304" pitchFamily="18" charset="0"/>
              </a:rPr>
              <a:t>Businesses struggle to identify customers at risk of churning before they leave. Proactive, early detection is key to effective intervention.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  <a:cs typeface="Times New Roman" panose="02020603050405020304" pitchFamily="18" charset="0"/>
              </a:rPr>
              <a:t>Machine learning provides powerful tools for analyzing complex customer behavior patterns and forecasting churn more accurately.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  <a:cs typeface="Times New Roman" panose="02020603050405020304" pitchFamily="18" charset="0"/>
              </a:rPr>
              <a:t>The primary objective of this project is to develop a superior machine learning system for churn prediction, improving both accuracy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153161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39010-05C7-63C4-2393-E7E7306C5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237" y="2031836"/>
            <a:ext cx="10515600" cy="467032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Traditional churn analysis often reacts to customer departure after it occurs. There is a need for effective systems that can predict potential churn before it happens.</a:t>
            </a:r>
          </a:p>
          <a:p>
            <a:pPr algn="just"/>
            <a:endParaRPr lang="en-US" dirty="0">
              <a:latin typeface="Abadi" panose="020B060402010402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This study enhances churn prediction by delivering more actionable insights through improved data handling, robust feature selection, and advanced machine learning techniques like XGBOOST.</a:t>
            </a:r>
          </a:p>
          <a:p>
            <a:pPr algn="just"/>
            <a:endParaRPr lang="en-US" dirty="0">
              <a:latin typeface="Abadi" panose="020B060402010402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This study enhances our understanding of churn by analyzing nine months of customer behavior, allowing a performance comparison with existing methods.</a:t>
            </a:r>
          </a:p>
          <a:p>
            <a:pPr algn="just"/>
            <a:endParaRPr lang="en-US" dirty="0">
              <a:latin typeface="Abadi" panose="020B060402010402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By proactively identifying churn risks, our system empowers businesses to implement more effective retention strategies, boosting customer lifetime value.</a:t>
            </a:r>
          </a:p>
          <a:p>
            <a:pPr algn="just"/>
            <a:endParaRPr lang="en-US" dirty="0">
              <a:latin typeface="Abadi" panose="020B060402010402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Abadi" panose="020B060402010402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Abadi" panose="020B060402010402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Abadi" panose="020B060402010402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EC79B-B503-9C09-3889-8CE6549D9BBD}"/>
              </a:ext>
            </a:extLst>
          </p:cNvPr>
          <p:cNvSpPr txBox="1"/>
          <p:nvPr/>
        </p:nvSpPr>
        <p:spPr>
          <a:xfrm flipH="1">
            <a:off x="1650591" y="155841"/>
            <a:ext cx="3901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76778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469284-1656-1E26-BEDC-0346D9F9707D}"/>
              </a:ext>
            </a:extLst>
          </p:cNvPr>
          <p:cNvSpPr>
            <a:spLocks noGrp="1"/>
          </p:cNvSpPr>
          <p:nvPr/>
        </p:nvSpPr>
        <p:spPr>
          <a:xfrm>
            <a:off x="4237703" y="275304"/>
            <a:ext cx="5435214" cy="1387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u="sng" dirty="0"/>
              <a:t>LITERATURE SURVEY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3AC166F9-515E-3179-3C58-FBB9FEB5A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742" y="1662853"/>
            <a:ext cx="9907446" cy="47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0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DA2DBF-C20F-3756-58D0-12BA0AAF46FB}"/>
              </a:ext>
            </a:extLst>
          </p:cNvPr>
          <p:cNvSpPr txBox="1"/>
          <p:nvPr/>
        </p:nvSpPr>
        <p:spPr>
          <a:xfrm flipH="1">
            <a:off x="2356220" y="77676"/>
            <a:ext cx="3579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41B80-1956-C777-386A-FEDD93D75E8D}"/>
              </a:ext>
            </a:extLst>
          </p:cNvPr>
          <p:cNvSpPr txBox="1"/>
          <p:nvPr/>
        </p:nvSpPr>
        <p:spPr>
          <a:xfrm>
            <a:off x="2074606" y="1011704"/>
            <a:ext cx="96262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Current churn analysis systems typically react after a customer has already left, which leads to missed opportunities for early intervention and retention.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Existing systems primarily used individual Machine learning algorithms like Logistic Regression, K-Nearest Neighbors, Random Forests, and Stochastic Gradient Boosters.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Many of these existing models do not include the critical steps for data preprocessing, like outlier removal and data balancing which causes poor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Existing methods use static features that may not provide a complete picture of changing customer activity patterns and may have lower accuracy</a:t>
            </a:r>
            <a:endParaRPr lang="en-IN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48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0D234-CF49-7E11-55D1-8FC62E04A151}"/>
              </a:ext>
            </a:extLst>
          </p:cNvPr>
          <p:cNvSpPr txBox="1"/>
          <p:nvPr/>
        </p:nvSpPr>
        <p:spPr>
          <a:xfrm flipH="1">
            <a:off x="1504334" y="1021079"/>
            <a:ext cx="8706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F9500-2FA6-4B6F-2B66-CA0B4BC442E7}"/>
              </a:ext>
            </a:extLst>
          </p:cNvPr>
          <p:cNvSpPr txBox="1"/>
          <p:nvPr/>
        </p:nvSpPr>
        <p:spPr>
          <a:xfrm flipH="1">
            <a:off x="1668779" y="2148839"/>
            <a:ext cx="7052433" cy="224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i="0" dirty="0">
                <a:solidFill>
                  <a:schemeClr val="tx2"/>
                </a:solidFill>
                <a:effectLst/>
                <a:latin typeface="Abadi" panose="020B0604020104020204" pitchFamily="34" charset="0"/>
              </a:rPr>
              <a:t>Data Imbalance Issue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i="0" dirty="0">
                <a:solidFill>
                  <a:schemeClr val="tx2"/>
                </a:solidFill>
                <a:effectLst/>
                <a:latin typeface="Abadi" panose="020B0604020104020204" pitchFamily="34" charset="0"/>
              </a:rPr>
              <a:t>Sensitivity to Outliers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i="0" dirty="0">
                <a:solidFill>
                  <a:schemeClr val="tx2"/>
                </a:solidFill>
                <a:effectLst/>
                <a:latin typeface="Abadi" panose="020B0604020104020204" pitchFamily="34" charset="0"/>
              </a:rPr>
              <a:t>Limited Feature Set: </a:t>
            </a:r>
            <a:endParaRPr lang="en-IN" sz="2400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i="0" dirty="0">
                <a:solidFill>
                  <a:schemeClr val="tx2"/>
                </a:solidFill>
                <a:effectLst/>
                <a:latin typeface="Abadi" panose="020B0604020104020204" pitchFamily="34" charset="0"/>
              </a:rPr>
              <a:t>Lower Accuracy: </a:t>
            </a:r>
            <a:endParaRPr lang="en-IN" sz="2400" dirty="0">
              <a:solidFill>
                <a:schemeClr val="tx2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30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19116-2A16-A5B6-88FD-5B95DC59AC5A}"/>
              </a:ext>
            </a:extLst>
          </p:cNvPr>
          <p:cNvSpPr txBox="1"/>
          <p:nvPr/>
        </p:nvSpPr>
        <p:spPr>
          <a:xfrm flipH="1">
            <a:off x="1614010" y="579120"/>
            <a:ext cx="3817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BD73E-41D4-C229-C9B3-32E7180476D9}"/>
              </a:ext>
            </a:extLst>
          </p:cNvPr>
          <p:cNvSpPr txBox="1"/>
          <p:nvPr/>
        </p:nvSpPr>
        <p:spPr>
          <a:xfrm>
            <a:off x="1681317" y="1519535"/>
            <a:ext cx="99234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Uses machine learning models to predict churn early on, enabling businesses to take proactive action to retain at-risk customers.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Includes sophisticated data preprocessing techniques, like SMOTE oversampling, outlier detection, and feature engineering.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Employs dimensionality reduction through PCA to improve model efficiency and reduce overfitting.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We enhance predictive accuracy by utilizing advanced gradient boosting algorithms like </a:t>
            </a:r>
            <a:r>
              <a:rPr lang="en-US" sz="2400" dirty="0" err="1">
                <a:latin typeface="Abadi" panose="020B0604020104020204" pitchFamily="34" charset="0"/>
              </a:rPr>
              <a:t>XGBoost</a:t>
            </a:r>
            <a:r>
              <a:rPr lang="en-US" sz="2400" dirty="0">
                <a:latin typeface="Abadi" panose="020B0604020104020204" pitchFamily="34" charset="0"/>
              </a:rPr>
              <a:t> and </a:t>
            </a:r>
            <a:r>
              <a:rPr lang="en-US" sz="2400" dirty="0" err="1">
                <a:latin typeface="Abadi" panose="020B0604020104020204" pitchFamily="34" charset="0"/>
              </a:rPr>
              <a:t>CatBoost</a:t>
            </a:r>
            <a:r>
              <a:rPr lang="en-US" sz="2400" dirty="0">
                <a:latin typeface="Abadi" panose="020B0604020104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36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1BCF1-3200-C337-623E-69686A70755E}"/>
              </a:ext>
            </a:extLst>
          </p:cNvPr>
          <p:cNvSpPr txBox="1"/>
          <p:nvPr/>
        </p:nvSpPr>
        <p:spPr>
          <a:xfrm>
            <a:off x="1386347" y="1459230"/>
            <a:ext cx="96454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Accuracy: The proposed system demonstrates greater accuracy in predicting customer churn due to better data handling and advanced algorithms.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Robust Model: The proposed model is more robust due to the application of outlier removal, oversampling and feature selection.</a:t>
            </a:r>
          </a:p>
          <a:p>
            <a:pPr lvl="1" algn="just"/>
            <a:endParaRPr lang="en-US" sz="24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Actionable Insights: Our system provides not just predictions, but actionable insights into what drives churn, enabling targeted and effective retention efforts.</a:t>
            </a:r>
          </a:p>
          <a:p>
            <a:pPr lvl="1" algn="just"/>
            <a:endParaRPr lang="en-US" sz="24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Better Retention Strategies: Ultimately, our system leads to more effective customer retention strategies and reduced costs for companies.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6CF65-C3BE-55EA-8404-D5B1B029A96D}"/>
              </a:ext>
            </a:extLst>
          </p:cNvPr>
          <p:cNvSpPr txBox="1"/>
          <p:nvPr/>
        </p:nvSpPr>
        <p:spPr>
          <a:xfrm flipH="1">
            <a:off x="1853528" y="135791"/>
            <a:ext cx="8072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1752611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EBD2-92A2-7C5F-80A6-098C12F2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507" y="399522"/>
            <a:ext cx="9905998" cy="62245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2723A-85CA-4135-3CDF-307A7CA1A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7447" y="1084729"/>
            <a:ext cx="9905999" cy="584059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Module 1: Data Collection &amp; Preprocessing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Data Source:</a:t>
            </a:r>
            <a:r>
              <a:rPr lang="en-US" b="0" i="0" dirty="0">
                <a:effectLst/>
                <a:latin typeface="Roboto" panose="02000000000000000000" pitchFamily="2" charset="0"/>
              </a:rPr>
              <a:t> Kaggle dataset: Telco Customer Churn.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Data Cleaning: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Removed irrelevant column ('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customerID</a:t>
            </a:r>
            <a:r>
              <a:rPr lang="en-US" b="0" i="0" dirty="0">
                <a:effectLst/>
                <a:latin typeface="Roboto" panose="02000000000000000000" pitchFamily="2" charset="0"/>
              </a:rPr>
              <a:t>').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Handled missing values in 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TotalCharges</a:t>
            </a:r>
            <a:r>
              <a:rPr lang="en-US" b="0" i="0" dirty="0">
                <a:effectLst/>
                <a:latin typeface="Roboto" panose="02000000000000000000" pitchFamily="2" charset="0"/>
              </a:rPr>
              <a:t>' by replacing them with 0.0.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Converted 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TotalCharges</a:t>
            </a:r>
            <a:r>
              <a:rPr lang="en-US" b="0" i="0" dirty="0">
                <a:effectLst/>
                <a:latin typeface="Roboto" panose="02000000000000000000" pitchFamily="2" charset="0"/>
              </a:rPr>
              <a:t>' to a numerical data type (float).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Addressing Data Imbalance: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Observed class imbalance in the 'Churn' variable.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Applied SMOTE (Synthetic Minority Over-sampling Technique) to balance the dataset and improve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65983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45048-650D-D7A6-ABD5-FBC82137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9303" y="-191439"/>
            <a:ext cx="9698944" cy="6454588"/>
          </a:xfrm>
        </p:spPr>
        <p:txBody>
          <a:bodyPr>
            <a:noAutofit/>
          </a:bodyPr>
          <a:lstStyle/>
          <a:p>
            <a:pPr marL="457200" lvl="1" indent="0" algn="l">
              <a:buNone/>
            </a:pP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Module 2: Exploratory Data Analysis (EDA)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Insights: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Analyzed numerical features ('tenure', 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MonthlyCharges</a:t>
            </a:r>
            <a:r>
              <a:rPr lang="en-US" b="0" i="0" dirty="0">
                <a:effectLst/>
                <a:latin typeface="Roboto" panose="02000000000000000000" pitchFamily="2" charset="0"/>
              </a:rPr>
              <a:t>', 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TotalCharges</a:t>
            </a:r>
            <a:r>
              <a:rPr lang="en-US" b="0" i="0" dirty="0">
                <a:effectLst/>
                <a:latin typeface="Roboto" panose="02000000000000000000" pitchFamily="2" charset="0"/>
              </a:rPr>
              <a:t>') using histograms and box plots, revealing distributions and potential outliers.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Explored categorical features using count plots to understand their frequencies and relationships with churn.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Calculated the correlation between numerical features using a heatmap.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Findings: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Identified patterns in customer behavior based on tenure, monthly charges, and total charges.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Observed relationships between categorical features and churn, such as contract type and internet service.</a:t>
            </a:r>
          </a:p>
        </p:txBody>
      </p:sp>
    </p:spTree>
    <p:extLst>
      <p:ext uri="{BB962C8B-B14F-4D97-AF65-F5344CB8AC3E}">
        <p14:creationId xmlns:p14="http://schemas.microsoft.com/office/powerpoint/2010/main" val="242923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13F81-6C48-6F3F-DBD5-696B47FB9DFA}"/>
              </a:ext>
            </a:extLst>
          </p:cNvPr>
          <p:cNvSpPr txBox="1"/>
          <p:nvPr/>
        </p:nvSpPr>
        <p:spPr>
          <a:xfrm>
            <a:off x="2005635" y="132736"/>
            <a:ext cx="10529048" cy="5765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lnSpc>
                <a:spcPct val="150000"/>
              </a:lnSpc>
            </a:pP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Module 3: Feature Engineering &amp; Selection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Encoding Categorical Features: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Used Label Encoding to convert categorical columns ('</a:t>
            </a:r>
            <a:r>
              <a:rPr lang="en-US" sz="2000" b="0" i="0" dirty="0" err="1">
                <a:effectLst/>
                <a:latin typeface="Roboto" panose="02000000000000000000" pitchFamily="2" charset="0"/>
              </a:rPr>
              <a:t>SeniorCitizen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', 'gender', 'Partner', etc.) into numerical representations for model compatibility.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Stored encoders using pickle for future use.</a:t>
            </a: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Module 4: Model Selection and Training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Models Considered:</a:t>
            </a:r>
            <a:r>
              <a:rPr lang="en-US" sz="24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 err="1">
                <a:effectLst/>
                <a:latin typeface="Roboto" panose="02000000000000000000" pitchFamily="2" charset="0"/>
              </a:rPr>
              <a:t>CatBoost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 and </a:t>
            </a:r>
            <a:r>
              <a:rPr lang="en-US" sz="2000" b="0" i="0" dirty="0" err="1">
                <a:effectLst/>
                <a:latin typeface="Roboto" panose="02000000000000000000" pitchFamily="2" charset="0"/>
              </a:rPr>
              <a:t>XGBoost</a:t>
            </a:r>
            <a:r>
              <a:rPr lang="en-US" sz="2400" b="0" i="0" dirty="0">
                <a:effectLst/>
                <a:latin typeface="Roboto" panose="02000000000000000000" pitchFamily="2" charset="0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Model Performance:</a:t>
            </a:r>
            <a:r>
              <a:rPr lang="en-US" sz="2000" dirty="0">
                <a:latin typeface="Roboto" panose="02000000000000000000" pitchFamily="2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</a:rPr>
              <a:t>Used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 5-fold cross-validation </a:t>
            </a:r>
            <a:r>
              <a:rPr lang="en-US" sz="2000" dirty="0">
                <a:latin typeface="Roboto" panose="02000000000000000000" pitchFamily="2" charset="0"/>
              </a:rPr>
              <a:t>to increase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 accuracy.</a:t>
            </a:r>
          </a:p>
        </p:txBody>
      </p:sp>
    </p:spTree>
    <p:extLst>
      <p:ext uri="{BB962C8B-B14F-4D97-AF65-F5344CB8AC3E}">
        <p14:creationId xmlns:p14="http://schemas.microsoft.com/office/powerpoint/2010/main" val="2470189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E792-4B62-F93A-C7E7-8C4DCC03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3895" y="413312"/>
            <a:ext cx="3272976" cy="733142"/>
          </a:xfrm>
        </p:spPr>
        <p:txBody>
          <a:bodyPr/>
          <a:lstStyle/>
          <a:p>
            <a:r>
              <a:rPr lang="en-IN" b="1" u="sng" dirty="0"/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4C024-5E26-4934-6070-AE582B478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999" y="1561216"/>
            <a:ext cx="7612754" cy="451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87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04800"/>
            <a:ext cx="9905998" cy="1478570"/>
          </a:xfrm>
        </p:spPr>
        <p:txBody>
          <a:bodyPr>
            <a:normAutofit/>
          </a:bodyPr>
          <a:lstStyle/>
          <a:p>
            <a:pPr lvl="0" algn="ctr"/>
            <a:r>
              <a:rPr lang="en-IN" sz="3200" dirty="0"/>
              <a:t>Software Requirements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FC61E2-60B5-5400-7999-645B4F9FF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536235"/>
              </p:ext>
            </p:extLst>
          </p:nvPr>
        </p:nvGraphicFramePr>
        <p:xfrm>
          <a:off x="2418736" y="1678858"/>
          <a:ext cx="9525484" cy="4754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62742">
                  <a:extLst>
                    <a:ext uri="{9D8B030D-6E8A-4147-A177-3AD203B41FA5}">
                      <a16:colId xmlns:a16="http://schemas.microsoft.com/office/drawing/2014/main" val="4012355463"/>
                    </a:ext>
                  </a:extLst>
                </a:gridCol>
                <a:gridCol w="4762742">
                  <a:extLst>
                    <a:ext uri="{9D8B030D-6E8A-4147-A177-3AD203B41FA5}">
                      <a16:colId xmlns:a16="http://schemas.microsoft.com/office/drawing/2014/main" val="538080341"/>
                    </a:ext>
                  </a:extLst>
                </a:gridCol>
              </a:tblGrid>
              <a:tr h="743992">
                <a:tc>
                  <a:txBody>
                    <a:bodyPr/>
                    <a:lstStyle/>
                    <a:p>
                      <a:r>
                        <a:rPr lang="en-IN" sz="2400" dirty="0"/>
                        <a:t>Operating System :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Windows 10, macOS, Linux.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306499"/>
                  </a:ext>
                </a:extLst>
              </a:tr>
              <a:tr h="743992">
                <a:tc>
                  <a:txBody>
                    <a:bodyPr/>
                    <a:lstStyle/>
                    <a:p>
                      <a:r>
                        <a:rPr lang="en-IN" sz="2400" dirty="0"/>
                        <a:t> Platform: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 Python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872768"/>
                  </a:ext>
                </a:extLst>
              </a:tr>
              <a:tr h="1062845">
                <a:tc>
                  <a:txBody>
                    <a:bodyPr/>
                    <a:lstStyle/>
                    <a:p>
                      <a:r>
                        <a:rPr lang="en-IN" sz="2400" dirty="0"/>
                        <a:t>Frontend: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/>
                        <a:t>No specific frontend requirement as the project focuses on backend data analysis and </a:t>
                      </a:r>
                      <a:r>
                        <a:rPr lang="en-IN" sz="2400" dirty="0" err="1"/>
                        <a:t>modeling</a:t>
                      </a:r>
                      <a:r>
                        <a:rPr lang="en-IN" sz="240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217629"/>
                  </a:ext>
                </a:extLst>
              </a:tr>
              <a:tr h="1075711">
                <a:tc>
                  <a:txBody>
                    <a:bodyPr/>
                    <a:lstStyle/>
                    <a:p>
                      <a:r>
                        <a:rPr lang="en-IN" sz="2400" dirty="0"/>
                        <a:t>Backend: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Python libraries such as Pandas                              for data manipulation, Scikit-learn </a:t>
                      </a:r>
                      <a:r>
                        <a:rPr lang="en-IN" sz="2400" dirty="0" err="1"/>
                        <a:t>formachine</a:t>
                      </a:r>
                      <a:r>
                        <a:rPr lang="en-IN" sz="2400" dirty="0"/>
                        <a:t> learning algorithms, and Matplotlib/Seaborn for data Visuals</a:t>
                      </a:r>
                      <a:endParaRPr lang="en-US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053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05824E-6DC4-61B6-F9B4-DE6E624B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04800"/>
            <a:ext cx="9905998" cy="1478570"/>
          </a:xfrm>
        </p:spPr>
        <p:txBody>
          <a:bodyPr>
            <a:normAutofit/>
          </a:bodyPr>
          <a:lstStyle/>
          <a:p>
            <a:pPr lvl="0" algn="ctr"/>
            <a:r>
              <a:rPr lang="en-IN" sz="3200" dirty="0"/>
              <a:t>HARDWARE Requirements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291A60-1319-861B-A428-AC2861CCE763}"/>
              </a:ext>
            </a:extLst>
          </p:cNvPr>
          <p:cNvGraphicFramePr>
            <a:graphicFrameLocks noGrp="1"/>
          </p:cNvGraphicFramePr>
          <p:nvPr/>
        </p:nvGraphicFramePr>
        <p:xfrm>
          <a:off x="1910080" y="1908386"/>
          <a:ext cx="8117840" cy="293793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58920">
                  <a:extLst>
                    <a:ext uri="{9D8B030D-6E8A-4147-A177-3AD203B41FA5}">
                      <a16:colId xmlns:a16="http://schemas.microsoft.com/office/drawing/2014/main" val="4108262554"/>
                    </a:ext>
                  </a:extLst>
                </a:gridCol>
                <a:gridCol w="4058920">
                  <a:extLst>
                    <a:ext uri="{9D8B030D-6E8A-4147-A177-3AD203B41FA5}">
                      <a16:colId xmlns:a16="http://schemas.microsoft.com/office/drawing/2014/main" val="707139284"/>
                    </a:ext>
                  </a:extLst>
                </a:gridCol>
              </a:tblGrid>
              <a:tr h="979311">
                <a:tc>
                  <a:txBody>
                    <a:bodyPr/>
                    <a:lstStyle/>
                    <a:p>
                      <a:r>
                        <a:rPr lang="en-IN" sz="2400" b="0" dirty="0"/>
                        <a:t>Processor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/>
                        <a:t>Intel Dual Core 2.00GHZ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27411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r>
                        <a:rPr lang="en-IN" sz="2400" b="0" dirty="0"/>
                        <a:t>Hard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/>
                        <a:t>40 GB(minimum)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237806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r>
                        <a:rPr lang="en-IN" sz="2400" b="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/>
                        <a:t>4 GB(minimum)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40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89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9406-36E0-67EB-61CD-BDA52EBA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371" y="478559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 explanation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7ACD-D8A9-ED6F-CF15-29589A697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316" y="926840"/>
            <a:ext cx="10125202" cy="562555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1800" b="1" i="0" dirty="0" err="1">
                <a:effectLst/>
                <a:latin typeface="Roboto" panose="02000000000000000000" pitchFamily="2" charset="0"/>
              </a:rPr>
              <a:t>XGBoost</a:t>
            </a:r>
            <a:r>
              <a:rPr lang="en-US" sz="1800" b="1" i="0" dirty="0">
                <a:effectLst/>
                <a:latin typeface="Roboto" panose="02000000000000000000" pitchFamily="2" charset="0"/>
              </a:rPr>
              <a:t> (Extreme Gradient Boosting)</a:t>
            </a:r>
            <a:endParaRPr lang="en-US" sz="1800" b="0" i="0" dirty="0"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sz="1800" b="1" i="0" dirty="0">
                <a:effectLst/>
                <a:latin typeface="Roboto" panose="02000000000000000000" pitchFamily="2" charset="0"/>
              </a:rPr>
              <a:t>Introduction:</a:t>
            </a:r>
            <a:endParaRPr lang="en-US" sz="1800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A powerful gradient boosting algorithm known for its high accuracy and efficiency.</a:t>
            </a: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Widely used in machine learning competitions and real-world applications.</a:t>
            </a:r>
          </a:p>
          <a:p>
            <a:pPr marL="0" indent="0" algn="l">
              <a:buNone/>
            </a:pPr>
            <a:r>
              <a:rPr lang="en-US" sz="1800" b="1" i="0" dirty="0">
                <a:effectLst/>
                <a:latin typeface="Roboto" panose="02000000000000000000" pitchFamily="2" charset="0"/>
              </a:rPr>
              <a:t>Key Features:</a:t>
            </a:r>
            <a:endParaRPr lang="en-US" sz="1800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sz="1800" b="1" i="0" dirty="0">
                <a:effectLst/>
                <a:latin typeface="Roboto" panose="02000000000000000000" pitchFamily="2" charset="0"/>
              </a:rPr>
              <a:t>Gradient Boosting: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 Builds an ensemble of decision trees sequentially, where each tree corrects the errors of its predecessors.</a:t>
            </a:r>
          </a:p>
          <a:p>
            <a:pPr lvl="1"/>
            <a:r>
              <a:rPr lang="en-US" sz="1800" b="1" i="0" dirty="0">
                <a:effectLst/>
                <a:latin typeface="Roboto" panose="02000000000000000000" pitchFamily="2" charset="0"/>
              </a:rPr>
              <a:t>Regularization: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 Prevents overfitting by penalizing complex models, improving generalization.</a:t>
            </a:r>
          </a:p>
          <a:p>
            <a:pPr lvl="1"/>
            <a:r>
              <a:rPr lang="en-US" sz="1800" b="1" i="0" dirty="0">
                <a:effectLst/>
                <a:latin typeface="Roboto" panose="02000000000000000000" pitchFamily="2" charset="0"/>
              </a:rPr>
              <a:t>Parallel Processing: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 Utilizes multiple cores for faster training.</a:t>
            </a:r>
          </a:p>
          <a:p>
            <a:pPr lvl="1"/>
            <a:r>
              <a:rPr lang="en-US" sz="1800" b="1" i="0" dirty="0">
                <a:effectLst/>
                <a:latin typeface="Roboto" panose="02000000000000000000" pitchFamily="2" charset="0"/>
              </a:rPr>
              <a:t>Handling Missing Values: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 Built-in capabilities to handle missing data without imputation.</a:t>
            </a:r>
          </a:p>
          <a:p>
            <a:pPr marL="0" indent="0" algn="l">
              <a:buNone/>
            </a:pPr>
            <a:r>
              <a:rPr lang="en-US" sz="1800" b="1" i="0" dirty="0">
                <a:effectLst/>
                <a:latin typeface="Roboto" panose="02000000000000000000" pitchFamily="2" charset="0"/>
              </a:rPr>
              <a:t>Advantages:</a:t>
            </a:r>
            <a:endParaRPr lang="en-US" sz="1800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High predictive accuracy.</a:t>
            </a: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Handles </a:t>
            </a:r>
            <a:r>
              <a:rPr lang="en-US" sz="1800" dirty="0">
                <a:latin typeface="Roboto" panose="02000000000000000000" pitchFamily="2" charset="0"/>
              </a:rPr>
              <a:t>missing </a:t>
            </a:r>
            <a:r>
              <a:rPr lang="en-US" sz="1800" dirty="0" err="1">
                <a:latin typeface="Roboto" panose="02000000000000000000" pitchFamily="2" charset="0"/>
              </a:rPr>
              <a:t>vscalable.alues</a:t>
            </a:r>
            <a:r>
              <a:rPr lang="en-US" sz="1800" dirty="0">
                <a:latin typeface="Roboto" panose="02000000000000000000" pitchFamily="2" charset="0"/>
              </a:rPr>
              <a:t> 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effectively.</a:t>
            </a: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Feature importance analysis.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83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6D958D-28C7-5BCF-2FF5-270234F9C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329" y="609599"/>
            <a:ext cx="6365270" cy="46616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86ABF7-BABA-9C84-CA92-DF1442B0DA94}"/>
              </a:ext>
            </a:extLst>
          </p:cNvPr>
          <p:cNvSpPr txBox="1"/>
          <p:nvPr/>
        </p:nvSpPr>
        <p:spPr>
          <a:xfrm>
            <a:off x="1138518" y="487025"/>
            <a:ext cx="4616823" cy="604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Start with an initial prediction: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This could be a simple average or a basic model.</a:t>
            </a:r>
          </a:p>
          <a:p>
            <a:pPr algn="l">
              <a:lnSpc>
                <a:spcPct val="150000"/>
              </a:lnSpc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Build a decision tree: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This tree tries to predict the errors in the initial prediction.</a:t>
            </a:r>
          </a:p>
          <a:p>
            <a:pPr algn="l">
              <a:lnSpc>
                <a:spcPct val="150000"/>
              </a:lnSpc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Add the tree's predictions to the initial prediction: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This improves the overall prediction.</a:t>
            </a:r>
          </a:p>
          <a:p>
            <a:pPr algn="l">
              <a:lnSpc>
                <a:spcPct val="150000"/>
              </a:lnSpc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Repeat steps 2 and 3: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Build more trees, each focusing on the remaining errors, until a stopping criterion is reached.</a:t>
            </a:r>
          </a:p>
        </p:txBody>
      </p:sp>
    </p:spTree>
    <p:extLst>
      <p:ext uri="{BB962C8B-B14F-4D97-AF65-F5344CB8AC3E}">
        <p14:creationId xmlns:p14="http://schemas.microsoft.com/office/powerpoint/2010/main" val="2246935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40C228-A431-1D61-C2A3-56CD2F0E2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510" y="400124"/>
            <a:ext cx="7714587" cy="605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07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6F16-4EA8-0E4D-E766-FADC4543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AF24-B5DA-A696-FCB6-16B0CECD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88" y="286869"/>
            <a:ext cx="5761411" cy="735105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Detailed Implementation</a:t>
            </a:r>
            <a:endParaRPr lang="en-IN" sz="40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479F-08C7-3542-A0C1-0EDC2278F73F}"/>
              </a:ext>
            </a:extLst>
          </p:cNvPr>
          <p:cNvSpPr txBox="1"/>
          <p:nvPr/>
        </p:nvSpPr>
        <p:spPr>
          <a:xfrm>
            <a:off x="1237129" y="1272988"/>
            <a:ext cx="10040471" cy="4212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#MODEL TRAINING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smote = SMOTE(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=42)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X_train_smote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y_train_smote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smote.fit_resample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(X_train,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b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Model training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models = {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'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':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=42),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'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':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=42),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'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':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=42)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2828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60520A-B62A-66FC-60A0-62F6E5E53B54}"/>
              </a:ext>
            </a:extLst>
          </p:cNvPr>
          <p:cNvSpPr txBox="1"/>
          <p:nvPr/>
        </p:nvSpPr>
        <p:spPr>
          <a:xfrm>
            <a:off x="2753032" y="506176"/>
            <a:ext cx="87212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best_model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None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best_accuracy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 0</a:t>
            </a:r>
          </a:p>
          <a:p>
            <a:pPr>
              <a:buNone/>
            </a:pPr>
            <a:b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model_name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, model in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models.items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model.fit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X_train_smote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y_train_smote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accuracy =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print(f'{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model_name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}: {accuracy:.4f}')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if accuracy &gt;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best_accuracy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best_accuracy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 accuracy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best_model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 model</a:t>
            </a:r>
            <a:b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</a:br>
            <a:r>
              <a:rPr lang="en-IN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print("</a:t>
            </a:r>
            <a:r>
              <a:rPr lang="en-IN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Best model"</a:t>
            </a:r>
            <a:r>
              <a:rPr lang="en-IN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best_model</a:t>
            </a:r>
            <a:r>
              <a:rPr lang="en-IN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IN" b="1" u="sng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u="sng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#OUTPUT</a:t>
            </a:r>
            <a:br>
              <a:rPr lang="en-IN" b="1" u="sng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IN" b="1" u="sng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IN" b="0" i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IN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: 0.7665 </a:t>
            </a:r>
            <a:r>
              <a:rPr lang="en-IN" b="0" i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IN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: 0.7786 </a:t>
            </a:r>
            <a:r>
              <a:rPr lang="en-IN" b="0" i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IN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: 0.7807 </a:t>
            </a:r>
          </a:p>
          <a:p>
            <a:r>
              <a:rPr lang="en-IN" b="1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 model: </a:t>
            </a:r>
            <a:r>
              <a:rPr lang="en-IN" b="1" i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IN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num_parallel_tree</a:t>
            </a:r>
            <a:r>
              <a:rPr lang="en-IN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=None, </a:t>
            </a:r>
            <a:r>
              <a:rPr lang="en-IN" b="0" i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=42, ...)</a:t>
            </a:r>
            <a:endParaRPr lang="en-IN" b="0" dirty="0">
              <a:solidFill>
                <a:schemeClr val="tx2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985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39950-369C-4664-D03F-0E539A60FF4E}"/>
              </a:ext>
            </a:extLst>
          </p:cNvPr>
          <p:cNvSpPr txBox="1"/>
          <p:nvPr/>
        </p:nvSpPr>
        <p:spPr>
          <a:xfrm>
            <a:off x="2032385" y="0"/>
            <a:ext cx="10040471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pickle</a:t>
            </a:r>
          </a:p>
          <a:p>
            <a:pPr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pandas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pd</a:t>
            </a:r>
          </a:p>
          <a:p>
            <a:pPr>
              <a:buNone/>
            </a:pPr>
            <a:b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Load the saved model and encoders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open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best_model.pkl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rb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f: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model =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pickle.load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(f)</a:t>
            </a:r>
          </a:p>
          <a:p>
            <a:pPr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open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encoders.pkl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rb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f:</a:t>
            </a: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encoders =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pickle.load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(f)</a:t>
            </a:r>
          </a:p>
          <a:p>
            <a:pPr>
              <a:buNone/>
            </a:pPr>
            <a:b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Create a </a:t>
            </a:r>
            <a:r>
              <a:rPr lang="en-IN" b="1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DataFrame</a:t>
            </a: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 with the input values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pd.DataFrame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([[1.00, 0.00, 1.00, 0.00, 6.00, 1.00, 2.00, 1.00, 0.00, 0.00, 0.00, 0.00, 2.00, 0.00, 0.00, 1.00, 2.00, 82.85, 460.25]],</a:t>
            </a:r>
          </a:p>
          <a:p>
            <a:pPr>
              <a:buNone/>
            </a:pPr>
            <a:endParaRPr lang="en-IN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columns=[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SeniorCitizen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'Partner'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'Dependents'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'tenure'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PhoneService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MultipleLines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InternetService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OnlineSecurity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OnlineBackup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DeviceProtection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TechSupport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StreamingTV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StreamingMovies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'Contract'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PaperlessBilling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PaymentMethod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MonthlyCharges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TotalCharges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’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])</a:t>
            </a:r>
            <a:b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Identify categorical columns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categorical_cols</a:t>
            </a:r>
            <a:r>
              <a:rPr lang="en-IN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SeniorCitizen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'Partner'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'Dependents'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PhoneService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MultipleLines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InternetService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OnlineSecurity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OnlineBackup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DeviceProtection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TechSupport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StreamingTV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StreamingMovies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'Contract'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PaperlessBilling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PaymentMethod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32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D52AD8-9BEF-2DC3-64DF-AE0056E607DB}"/>
              </a:ext>
            </a:extLst>
          </p:cNvPr>
          <p:cNvSpPr txBox="1"/>
          <p:nvPr/>
        </p:nvSpPr>
        <p:spPr>
          <a:xfrm>
            <a:off x="2497683" y="592829"/>
            <a:ext cx="99418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# Encode categorical columns and print encoded values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for col in 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categorical_cols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# Replace unseen values with the most frequent category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valid_classes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= encoders[col].classes_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[col] = 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[col].apply(lambda x: x if str(x) in 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valid_classes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else 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valid_classes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[0])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# Transform using the encoder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[col] = encoders[col].transform(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[col].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astype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(str))</a:t>
            </a:r>
          </a:p>
          <a:p>
            <a:pPr>
              <a:buNone/>
            </a:pPr>
            <a:b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</a:b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# Make a prediction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prediction = 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600" b="1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)[0]</a:t>
            </a:r>
          </a:p>
          <a:p>
            <a:pPr>
              <a:buNone/>
            </a:pPr>
            <a:b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</a:b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# Print the result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if prediction == 1: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print("Churn")</a:t>
            </a:r>
          </a:p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else:</a:t>
            </a:r>
          </a:p>
          <a:p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   print("Not Churn")</a:t>
            </a:r>
            <a:b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</a:br>
            <a:b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</a:br>
            <a:r>
              <a:rPr lang="en-IN" sz="1600" b="1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#OUTPUT</a:t>
            </a:r>
          </a:p>
          <a:p>
            <a:r>
              <a:rPr lang="en-IN" sz="1600" b="1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Churn</a:t>
            </a:r>
            <a:endParaRPr lang="en-IN" sz="1600" b="1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018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29D-1F2A-769D-12A7-489AE4CBF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AECA-49DA-B509-5DC2-E3786FD8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118" y="699246"/>
            <a:ext cx="5761411" cy="735105"/>
          </a:xfrm>
        </p:spPr>
        <p:txBody>
          <a:bodyPr>
            <a:normAutofit/>
          </a:bodyPr>
          <a:lstStyle/>
          <a:p>
            <a:r>
              <a:rPr lang="en-IN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Screenshots </a:t>
            </a:r>
            <a:endParaRPr lang="en-IN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00ADB7-E170-9206-762C-4EAF07DBE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227" y="1747291"/>
            <a:ext cx="8374465" cy="381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786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3CB8BC-3A1E-87DD-829A-BE7097692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057" y="734374"/>
            <a:ext cx="6142355" cy="276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EEE365-0660-751B-9604-EA23F5692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865" y="3732196"/>
            <a:ext cx="6142355" cy="27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5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ED5F5-09D6-EF0F-96BA-4FA8E3E73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237" y="389929"/>
            <a:ext cx="6180064" cy="2778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10781A-DD90-9A4E-C189-91E95846B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100" y="2923592"/>
            <a:ext cx="6217773" cy="280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15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0C781-8BC4-8D02-332B-4BDC7314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BFA3-B91C-1760-B032-1E963B37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222" y="573736"/>
            <a:ext cx="8244635" cy="1004048"/>
          </a:xfrm>
        </p:spPr>
        <p:txBody>
          <a:bodyPr>
            <a:noAutofit/>
          </a:bodyPr>
          <a:lstStyle/>
          <a:p>
            <a:r>
              <a:rPr lang="en-IN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B155082-566D-CFD8-7BEA-A956F1C3E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019" y="1358166"/>
            <a:ext cx="9624291" cy="51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Customer Churn Model Development: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We developed a predictive model for customer churn using the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XGBoost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algorithm, known for its high performance with structured data.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Handling Class Imbalance: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To address the imbalance in churn labels, we applied SMOTE (Synthetic Minority Over-sampling Technique), which helped improve model sensitivity toward the minority class.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Performance Evaluation: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We initially assessed model performance using accuracy. Moving forward, we aim to include precision, recall, and F1-score to better evaluate the model, particularly in light of the class imbalance.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Model Saving and Deployment: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For reusability and smooth deployment, we saved the trained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XGBoost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model .</a:t>
            </a:r>
          </a:p>
        </p:txBody>
      </p:sp>
    </p:spTree>
    <p:extLst>
      <p:ext uri="{BB962C8B-B14F-4D97-AF65-F5344CB8AC3E}">
        <p14:creationId xmlns:p14="http://schemas.microsoft.com/office/powerpoint/2010/main" val="543733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FAB1-673F-CB63-64D0-AE2B26A7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050" y="-346200"/>
            <a:ext cx="9905998" cy="1478570"/>
          </a:xfrm>
        </p:spPr>
        <p:txBody>
          <a:bodyPr/>
          <a:lstStyle/>
          <a:p>
            <a:r>
              <a:rPr lang="en-IN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36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uture </a:t>
            </a:r>
            <a:r>
              <a:rPr lang="en-IN" sz="3600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Enhacement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BF2D0-74DE-7924-9250-1933D1EB5CD9}"/>
              </a:ext>
            </a:extLst>
          </p:cNvPr>
          <p:cNvSpPr txBox="1"/>
          <p:nvPr/>
        </p:nvSpPr>
        <p:spPr>
          <a:xfrm>
            <a:off x="1858297" y="821572"/>
            <a:ext cx="9989574" cy="5591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Model Deployment:</a:t>
            </a:r>
            <a:r>
              <a:rPr lang="en-US" sz="1600" b="0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deploy the model as a web service or API, allowing seamless integration with our existing systems and applications. This enables real-time access to churn predictions for new customer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Data Streaming and Preprocessing:</a:t>
            </a:r>
            <a:r>
              <a:rPr lang="en-US" sz="1600" b="0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integrate a data streaming pipeline to capture and preprocess real-time customer data, ensuring it's compatible with the model's input format. This involves handling missing values, encoding categorical features, and potentially generating new features.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Prediction API:</a:t>
            </a:r>
            <a:r>
              <a:rPr lang="en-US" sz="1600" b="0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develop an API endpoint that accepts customer data as input and returns the predicted churn probability in real-time. This enables other applications or systems within our organization to access churn predictions on demand.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Monitoring and Feedback Loop:</a:t>
            </a:r>
            <a:r>
              <a:rPr lang="en-US" sz="1600" b="0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implement a monitoring system to track the model's performance in real-time, identifying potential drifts or degradation. This feedback loop will trigger model retraining or updates to maintain accuracy and adaptability to evolving churn patterns.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Alerting and Actionable Insights:</a:t>
            </a:r>
            <a:r>
              <a:rPr lang="en-US" sz="1600" b="0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integrate an alerting mechanism to notify relevant stakeholders when a customer is identified as high-risk for churn. This allows for proactive interventions and personalized retention strategies to be implemented in a timely manner.</a:t>
            </a:r>
          </a:p>
        </p:txBody>
      </p:sp>
    </p:spTree>
    <p:extLst>
      <p:ext uri="{BB962C8B-B14F-4D97-AF65-F5344CB8AC3E}">
        <p14:creationId xmlns:p14="http://schemas.microsoft.com/office/powerpoint/2010/main" val="1271188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42453C-BF13-A2A4-DB66-B689A8AA29FE}"/>
              </a:ext>
            </a:extLst>
          </p:cNvPr>
          <p:cNvSpPr txBox="1"/>
          <p:nvPr/>
        </p:nvSpPr>
        <p:spPr>
          <a:xfrm>
            <a:off x="1615440" y="1396008"/>
            <a:ext cx="95554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Omar Adwan, Hossam Faris, Khalid </a:t>
            </a:r>
            <a:r>
              <a:rPr lang="en-IN" dirty="0" err="1"/>
              <a:t>Jaradat</a:t>
            </a:r>
            <a:r>
              <a:rPr lang="en-IN" dirty="0"/>
              <a:t>, Osama </a:t>
            </a:r>
            <a:r>
              <a:rPr lang="en-IN" dirty="0" err="1"/>
              <a:t>Harfoushi</a:t>
            </a:r>
            <a:r>
              <a:rPr lang="en-IN" dirty="0"/>
              <a:t>, </a:t>
            </a:r>
            <a:r>
              <a:rPr lang="en-IN" dirty="0" err="1"/>
              <a:t>Nazeeh</a:t>
            </a:r>
            <a:r>
              <a:rPr lang="en-IN" dirty="0"/>
              <a:t> </a:t>
            </a:r>
            <a:r>
              <a:rPr lang="en-IN" dirty="0" err="1"/>
              <a:t>Ghatasheh</a:t>
            </a:r>
            <a:r>
              <a:rPr lang="en-IN" dirty="0"/>
              <a:t>, Predicting customer churn in telecom industry using multilayer </a:t>
            </a:r>
            <a:r>
              <a:rPr lang="en-IN" dirty="0" err="1"/>
              <a:t>preceptron</a:t>
            </a:r>
            <a:r>
              <a:rPr lang="en-IN" dirty="0"/>
              <a:t> neural networks: </a:t>
            </a:r>
            <a:r>
              <a:rPr lang="en-IN" dirty="0" err="1"/>
              <a:t>modeling</a:t>
            </a:r>
            <a:r>
              <a:rPr lang="en-IN" dirty="0"/>
              <a:t> and analysis, Life Sci. J. 11 (3) (2014) 75–81.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Mohammad Ridwan Ismail, Mohd Khalid Awang, M. Nordin A. Rahman, </a:t>
            </a:r>
            <a:r>
              <a:rPr lang="en-IN" dirty="0" err="1"/>
              <a:t>Mokhairi</a:t>
            </a:r>
            <a:r>
              <a:rPr lang="en-IN" dirty="0"/>
              <a:t> Makhtar, A multi-layer perceptron approach for customer churn prediction, International Journal of Multimedia and Ubiquitous Engineering 10 (7) (2015) 213–222.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Farhad Shaikh, Brinda </a:t>
            </a:r>
            <a:r>
              <a:rPr lang="en-IN" dirty="0" err="1"/>
              <a:t>Pardeshi</a:t>
            </a:r>
            <a:r>
              <a:rPr lang="en-IN" dirty="0"/>
              <a:t>, Ajay </a:t>
            </a:r>
            <a:r>
              <a:rPr lang="en-IN" dirty="0" err="1"/>
              <a:t>Jachak</a:t>
            </a:r>
            <a:r>
              <a:rPr lang="en-IN" dirty="0"/>
              <a:t>, Akash </a:t>
            </a:r>
            <a:r>
              <a:rPr lang="en-IN" dirty="0" err="1"/>
              <a:t>Bendale</a:t>
            </a:r>
            <a:r>
              <a:rPr lang="en-IN" dirty="0"/>
              <a:t>, Nandakishor </a:t>
            </a:r>
            <a:r>
              <a:rPr lang="en-IN" dirty="0" err="1"/>
              <a:t>Sonune</a:t>
            </a:r>
            <a:r>
              <a:rPr lang="en-IN" dirty="0"/>
              <a:t>, Mangal </a:t>
            </a:r>
            <a:r>
              <a:rPr lang="en-IN" dirty="0" err="1"/>
              <a:t>Katkar</a:t>
            </a:r>
            <a:r>
              <a:rPr lang="en-IN" dirty="0"/>
              <a:t>, Customer churn prediction using </a:t>
            </a:r>
            <a:r>
              <a:rPr lang="en-IN" dirty="0" err="1"/>
              <a:t>nlp</a:t>
            </a:r>
            <a:r>
              <a:rPr lang="en-IN" dirty="0"/>
              <a:t> and machine learning: an overview, International Journal Of Advance Scientific Research And Engineering Trends 6 (2) (2021) 40–45.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Anuj Sharma, </a:t>
            </a:r>
            <a:r>
              <a:rPr lang="en-IN" dirty="0" err="1"/>
              <a:t>DrPrabin</a:t>
            </a:r>
            <a:r>
              <a:rPr lang="en-IN" dirty="0"/>
              <a:t> Kumar </a:t>
            </a:r>
            <a:r>
              <a:rPr lang="en-IN" dirty="0" err="1"/>
              <a:t>Panigrahi</a:t>
            </a:r>
            <a:r>
              <a:rPr lang="en-IN" dirty="0"/>
              <a:t>, A neural network based approach for predicting customer churn in cellular network services, Int. J. </a:t>
            </a:r>
            <a:r>
              <a:rPr lang="en-IN" dirty="0" err="1"/>
              <a:t>Comput</a:t>
            </a:r>
            <a:r>
              <a:rPr lang="en-IN" dirty="0"/>
              <a:t>. Appl. 27 (11) (2011) 26–31.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Ammara</a:t>
            </a:r>
            <a:r>
              <a:rPr lang="en-US" dirty="0"/>
              <a:t> Ahmed, D. Maheswari Linen, A review and analysis of churn prediction methods for customer retention in telecom industries, in: 2017 4th International Conference on Advanced Computing and Communication Systems (ICACCS), IEEE, 2017, pp. 1–7.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3775B7-33B7-E91E-BCBA-939493C894EF}"/>
              </a:ext>
            </a:extLst>
          </p:cNvPr>
          <p:cNvSpPr txBox="1"/>
          <p:nvPr/>
        </p:nvSpPr>
        <p:spPr>
          <a:xfrm>
            <a:off x="1615440" y="487680"/>
            <a:ext cx="2484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1705514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B3CB7-ECC8-7C1D-07FD-EEF608BB2B39}"/>
              </a:ext>
            </a:extLst>
          </p:cNvPr>
          <p:cNvSpPr txBox="1"/>
          <p:nvPr/>
        </p:nvSpPr>
        <p:spPr>
          <a:xfrm>
            <a:off x="2674374" y="2477727"/>
            <a:ext cx="6843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7200" dirty="0">
                <a:latin typeface="Lucida Calligraphy" panose="03010101010101010101" pitchFamily="66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1564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143</TotalTime>
  <Words>2209</Words>
  <Application>Microsoft Office PowerPoint</Application>
  <PresentationFormat>Widescreen</PresentationFormat>
  <Paragraphs>212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Abadi</vt:lpstr>
      <vt:lpstr>Arial</vt:lpstr>
      <vt:lpstr>Corbel</vt:lpstr>
      <vt:lpstr>Courier New</vt:lpstr>
      <vt:lpstr>Lucida Calligraphy</vt:lpstr>
      <vt:lpstr>Roboto</vt:lpstr>
      <vt:lpstr>Tahoma</vt:lpstr>
      <vt:lpstr>Times New Roman</vt:lpstr>
      <vt:lpstr>Wingdings</vt:lpstr>
      <vt:lpstr>Parallax</vt:lpstr>
      <vt:lpstr>N.B.K.R INSTITUTE OF SCIENCE &amp; TECHNOLOGY</vt:lpstr>
      <vt:lpstr>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MODULES</vt:lpstr>
      <vt:lpstr>PowerPoint Presentation</vt:lpstr>
      <vt:lpstr>PowerPoint Presentation</vt:lpstr>
      <vt:lpstr>Architecture</vt:lpstr>
      <vt:lpstr>Software Requirements </vt:lpstr>
      <vt:lpstr>HARDWARE Requirements </vt:lpstr>
      <vt:lpstr>Algorithm explanation </vt:lpstr>
      <vt:lpstr>PowerPoint Presentation</vt:lpstr>
      <vt:lpstr>PowerPoint Presentation</vt:lpstr>
      <vt:lpstr>Detailed Implementation</vt:lpstr>
      <vt:lpstr>PowerPoint Presentation</vt:lpstr>
      <vt:lpstr>PowerPoint Presentation</vt:lpstr>
      <vt:lpstr>PowerPoint Presentation</vt:lpstr>
      <vt:lpstr>Screenshots </vt:lpstr>
      <vt:lpstr>PowerPoint Presentation</vt:lpstr>
      <vt:lpstr>PowerPoint Presentation</vt:lpstr>
      <vt:lpstr>Conclusion</vt:lpstr>
      <vt:lpstr>Future Enhacement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Lazar Mura</dc:creator>
  <cp:lastModifiedBy>shubham salman</cp:lastModifiedBy>
  <cp:revision>3</cp:revision>
  <dcterms:created xsi:type="dcterms:W3CDTF">2025-04-25T15:09:47Z</dcterms:created>
  <dcterms:modified xsi:type="dcterms:W3CDTF">2025-04-26T08:18:06Z</dcterms:modified>
</cp:coreProperties>
</file>